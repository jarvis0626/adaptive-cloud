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e2013c79c54c09" /><Relationship Type="http://schemas.openxmlformats.org/officeDocument/2006/relationships/extended-properties" Target="/docProps/app.xml" Id="Ra58f44960ccc43cc" /><Relationship Type="http://schemas.openxmlformats.org/officeDocument/2006/relationships/officeDocument" Target="/ppt/presentation.xml" Id="R7cd9020b327b4cfc" /></Relationships>
</file>

<file path=ppt/presentation.xml><?xml version="1.0" encoding="utf-8"?>
<p:presentation xmlns:p="http://schemas.openxmlformats.org/presentationml/2006/main">
  <p:sldMasterIdLst>
    <p:sldMasterId xmlns:r="http://schemas.openxmlformats.org/officeDocument/2006/relationships" id="2147483648" r:id="R90e8dde56d5f4254"/>
  </p:sldMasterIdLst>
  <p:notesMasterIdLst>
    <p:notesMasterId xmlns:r="http://schemas.openxmlformats.org/officeDocument/2006/relationships" r:id="Rb9b399b676264f1b"/>
  </p:notesMasterIdLst>
  <p:sldIdLst>
    <p:sldId xmlns:r="http://schemas.openxmlformats.org/officeDocument/2006/relationships" id="256" r:id="Ref48fcecf2e44570"/>
    <p:sldId xmlns:r="http://schemas.openxmlformats.org/officeDocument/2006/relationships" id="257" r:id="R577eb7b6135e4216"/>
    <p:sldId xmlns:r="http://schemas.openxmlformats.org/officeDocument/2006/relationships" id="258" r:id="R71216809035c4708"/>
    <p:sldId xmlns:r="http://schemas.openxmlformats.org/officeDocument/2006/relationships" id="259" r:id="Radc9a8ad33684e8a"/>
    <p:sldId xmlns:r="http://schemas.openxmlformats.org/officeDocument/2006/relationships" id="260" r:id="R9f2d6c87dcb247cf"/>
    <p:sldId xmlns:r="http://schemas.openxmlformats.org/officeDocument/2006/relationships" id="261" r:id="Raf1e39e0cc084817"/>
    <p:sldId xmlns:r="http://schemas.openxmlformats.org/officeDocument/2006/relationships" id="262" r:id="R010dc4f530a84907"/>
    <p:sldId xmlns:r="http://schemas.openxmlformats.org/officeDocument/2006/relationships" id="263" r:id="R8206495c748342c5"/>
    <p:sldId xmlns:r="http://schemas.openxmlformats.org/officeDocument/2006/relationships" id="264" r:id="R69d195d915604030"/>
    <p:sldId xmlns:r="http://schemas.openxmlformats.org/officeDocument/2006/relationships" id="265" r:id="R6b5385b8cf3645e5"/>
    <p:sldId xmlns:r="http://schemas.openxmlformats.org/officeDocument/2006/relationships" id="266" r:id="R894a48030b894888"/>
    <p:sldId xmlns:r="http://schemas.openxmlformats.org/officeDocument/2006/relationships" id="267" r:id="Rcc38c87b02ee4b77"/>
    <p:sldId xmlns:r="http://schemas.openxmlformats.org/officeDocument/2006/relationships" id="268" r:id="R1860ca5ed0f443d5"/>
    <p:sldId xmlns:r="http://schemas.openxmlformats.org/officeDocument/2006/relationships" id="269" r:id="R11caa8a651f34862"/>
    <p:sldId xmlns:r="http://schemas.openxmlformats.org/officeDocument/2006/relationships" id="270" r:id="R7a98bd91e0444fb8"/>
    <p:sldId xmlns:r="http://schemas.openxmlformats.org/officeDocument/2006/relationships" id="271" r:id="R9c6b6b7cb9dc41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669672ff5749cb" /><Relationship Type="http://schemas.openxmlformats.org/officeDocument/2006/relationships/slideMaster" Target="/ppt/slideMasters/slideMaster1.xml" Id="R90e8dde56d5f4254" /><Relationship Type="http://schemas.openxmlformats.org/officeDocument/2006/relationships/notesMaster" Target="/ppt/notesMasters/notesMaster1.xml" Id="Rb9b399b676264f1b" /><Relationship Type="http://schemas.openxmlformats.org/officeDocument/2006/relationships/presProps" Target="/ppt/presProps.xml" Id="R54b2712c69f94738" /><Relationship Type="http://schemas.openxmlformats.org/officeDocument/2006/relationships/tableStyles" Target="/ppt/tableStyles.xml" Id="R7f2db0ccadb649ea" /><Relationship Type="http://schemas.openxmlformats.org/officeDocument/2006/relationships/slide" Target="/ppt/slides/slide1.xml" Id="Ref48fcecf2e44570" /><Relationship Type="http://schemas.openxmlformats.org/officeDocument/2006/relationships/slide" Target="/ppt/slides/slide2.xml" Id="R577eb7b6135e4216" /><Relationship Type="http://schemas.openxmlformats.org/officeDocument/2006/relationships/slide" Target="/ppt/slides/slide3.xml" Id="R71216809035c4708" /><Relationship Type="http://schemas.openxmlformats.org/officeDocument/2006/relationships/slide" Target="/ppt/slides/slide4.xml" Id="Radc9a8ad33684e8a" /><Relationship Type="http://schemas.openxmlformats.org/officeDocument/2006/relationships/slide" Target="/ppt/slides/slide5.xml" Id="R9f2d6c87dcb247cf" /><Relationship Type="http://schemas.openxmlformats.org/officeDocument/2006/relationships/slide" Target="/ppt/slides/slide6.xml" Id="Raf1e39e0cc084817" /><Relationship Type="http://schemas.openxmlformats.org/officeDocument/2006/relationships/slide" Target="/ppt/slides/slide7.xml" Id="R010dc4f530a84907" /><Relationship Type="http://schemas.openxmlformats.org/officeDocument/2006/relationships/slide" Target="/ppt/slides/slide8.xml" Id="R8206495c748342c5" /><Relationship Type="http://schemas.openxmlformats.org/officeDocument/2006/relationships/slide" Target="/ppt/slides/slide9.xml" Id="R69d195d915604030" /><Relationship Type="http://schemas.openxmlformats.org/officeDocument/2006/relationships/slide" Target="/ppt/slides/slide10.xml" Id="R6b5385b8cf3645e5" /><Relationship Type="http://schemas.openxmlformats.org/officeDocument/2006/relationships/slide" Target="/ppt/slides/slide11.xml" Id="R894a48030b894888" /><Relationship Type="http://schemas.openxmlformats.org/officeDocument/2006/relationships/slide" Target="/ppt/slides/slide12.xml" Id="Rcc38c87b02ee4b77" /><Relationship Type="http://schemas.openxmlformats.org/officeDocument/2006/relationships/slide" Target="/ppt/slides/slide13.xml" Id="R1860ca5ed0f443d5" /><Relationship Type="http://schemas.openxmlformats.org/officeDocument/2006/relationships/slide" Target="/ppt/slides/slide14.xml" Id="R11caa8a651f34862" /><Relationship Type="http://schemas.openxmlformats.org/officeDocument/2006/relationships/slide" Target="/ppt/slides/slide15.xml" Id="R7a98bd91e0444fb8" /><Relationship Type="http://schemas.openxmlformats.org/officeDocument/2006/relationships/slide" Target="/ppt/slides/slide16.xml" Id="R9c6b6b7cb9dc41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61e1dfbc9649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7a5005b60046bd" /><Relationship Type="http://schemas.openxmlformats.org/officeDocument/2006/relationships/notesMaster" Target="/ppt/notesMasters/notesMaster1.xml" Id="Re2dda3f5970f48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80443817864511" /><Relationship Type="http://schemas.openxmlformats.org/officeDocument/2006/relationships/notesMaster" Target="/ppt/notesMasters/notesMaster1.xml" Id="R10ae816ea2d245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64890d995f4d67" /><Relationship Type="http://schemas.openxmlformats.org/officeDocument/2006/relationships/notesMaster" Target="/ppt/notesMasters/notesMaster1.xml" Id="Re6a10e94e50e40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60b2dae7f14a63" /><Relationship Type="http://schemas.openxmlformats.org/officeDocument/2006/relationships/notesMaster" Target="/ppt/notesMasters/notesMaster1.xml" Id="Rf91c8ab746ad46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d95ae5d15614286" /><Relationship Type="http://schemas.openxmlformats.org/officeDocument/2006/relationships/notesMaster" Target="/ppt/notesMasters/notesMaster1.xml" Id="Rd54ca9615bc743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0ceb813ce6464b" /><Relationship Type="http://schemas.openxmlformats.org/officeDocument/2006/relationships/notesMaster" Target="/ppt/notesMasters/notesMaster1.xml" Id="R5aba0233d21f4b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c3f2d151a742b0" /><Relationship Type="http://schemas.openxmlformats.org/officeDocument/2006/relationships/notesMaster" Target="/ppt/notesMasters/notesMaster1.xml" Id="R722bb80f675348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72b224d3d454c6b" /><Relationship Type="http://schemas.openxmlformats.org/officeDocument/2006/relationships/notesMaster" Target="/ppt/notesMasters/notesMaster1.xml" Id="Rdc58cdb2263743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d4c20164f442a4" /><Relationship Type="http://schemas.openxmlformats.org/officeDocument/2006/relationships/notesMaster" Target="/ppt/notesMasters/notesMaster1.xml" Id="R0cb952a31d8f4b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34eb4a771f4d96" /><Relationship Type="http://schemas.openxmlformats.org/officeDocument/2006/relationships/notesMaster" Target="/ppt/notesMasters/notesMaster1.xml" Id="R3108fb6fe88b41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8ebddfc30a04096" /><Relationship Type="http://schemas.openxmlformats.org/officeDocument/2006/relationships/notesMaster" Target="/ppt/notesMasters/notesMaster1.xml" Id="R3ae15cd433384e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b20c924ade4791" /><Relationship Type="http://schemas.openxmlformats.org/officeDocument/2006/relationships/notesMaster" Target="/ppt/notesMasters/notesMaster1.xml" Id="R7f6a9062dbde4e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6a2bd65ae74444" /><Relationship Type="http://schemas.openxmlformats.org/officeDocument/2006/relationships/notesMaster" Target="/ppt/notesMasters/notesMaster1.xml" Id="R838baec1d426411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d54082f4a44b6c" /><Relationship Type="http://schemas.openxmlformats.org/officeDocument/2006/relationships/notesMaster" Target="/ppt/notesMasters/notesMaster1.xml" Id="R3d2ca27b7cf540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a4d877e6b714e00" /><Relationship Type="http://schemas.openxmlformats.org/officeDocument/2006/relationships/notesMaster" Target="/ppt/notesMasters/notesMaster1.xml" Id="R6bce01edcb6141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5996ef27d441c2" /><Relationship Type="http://schemas.openxmlformats.org/officeDocument/2006/relationships/notesMaster" Target="/ppt/notesMasters/notesMaster1.xml" Id="R9f1e061646db40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Suggested division: Presenter 1 slides 1–4; Presenter 2 slides 5–8; Presenter 3 slides 9–12; Presenter 4 slides 13–16.</a:t>
            </a:r>
          </a:p>
          <a:p xmlns:a="http://schemas.openxmlformats.org/drawingml/2006/main">
            <a:r>
              <a:t>Our topic is adaptive cloud server resource allocation. We propose an RL controller that learns when to add, remove or retain server instances. This presentation covers the case-study formulation; it does not claim trained results.</a:t>
            </a:r>
          </a:p>
          <a:p xmlns:a="http://schemas.openxmlformats.org/drawingml/2006/main">
            <a:r>
              <a:t>[Sources]</a:t>
            </a:r>
          </a:p>
          <a:p xmlns:a="http://schemas.openxmlformats.org/drawingml/2006/main">
            <a:r>
              <a:t>RL_CIA_3_Complete_Deliverables.pdf, pp. 1–2.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Suggested division: Presenter 1 slides 1–4; Presenter 2 slides 5–8; Presenter 3 slides 9–12; Presenter 4 slides 13–16.</a:t>
            </a:r>
          </a:p>
          <a:p xmlns:a="http://schemas.openxmlformats.org/drawingml/2006/main">
            <a:r>
              <a:t>Use an online application during a sudden burst of requests as the example. The same server allocation can be wasteful at quiet times and inadequate during busy times. SLA means service-level agreement. Our latency target is a project assumption.</a:t>
            </a:r>
          </a:p>
          <a:p xmlns:a="http://schemas.openxmlformats.org/drawingml/2006/main">
            <a:r>
              <a:t>[Sources]</a:t>
            </a:r>
          </a:p>
          <a:p xmlns:a="http://schemas.openxmlformats.org/drawingml/2006/main">
            <a:r>
              <a:t>Proposed case-study design; numerical settings are illustrative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Suggested division: Presenter 1 slides 1–4; Presenter 2 slides 5–8; Presenter 3 slides 9–12; Presenter 4 slides 13–16.</a:t>
            </a:r>
          </a:p>
          <a:p xmlns:a="http://schemas.openxmlformats.org/drawingml/2006/main">
            <a:r>
              <a:t>The decision is repeated every minute. A new instance needs time to start, while queued work carries forward. Removing capacity saves money now but can cause later delays. These linked consequences make this a sequential decision problem.</a:t>
            </a:r>
          </a:p>
          <a:p xmlns:a="http://schemas.openxmlformats.org/drawingml/2006/main">
            <a:r>
              <a:t>[Sources]</a:t>
            </a:r>
          </a:p>
          <a:p xmlns:a="http://schemas.openxmlformats.org/drawingml/2006/main">
            <a:r>
              <a:t>Proposed case-study design; numerical settings are illustrative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Suggested division: Presenter 1 slides 1–4; Presenter 2 slides 5–8; Presenter 3 slides 9–12; Presenter 4 slides 13–16.</a:t>
            </a:r>
          </a:p>
          <a:p xmlns:a="http://schemas.openxmlformats.org/drawingml/2006/main">
            <a:r>
              <a:t>A fixed CPU threshold is a useful baseline, but it does not directly optimize discounted return. Real autoscalers can use multiple metrics and stabilization windows. We must compare fairly rather than assume RL will be better. RL can learn delayed consequences within the limits of the simulator.</a:t>
            </a:r>
          </a:p>
          <a:p xmlns:a="http://schemas.openxmlformats.org/drawingml/2006/main">
            <a:r>
              <a:t>[Sources]</a:t>
            </a:r>
          </a:p>
          <a:p xmlns:a="http://schemas.openxmlformats.org/drawingml/2006/main">
            <a:r>
              <a:t>https://kubernetes.io/docs/concepts/workloads/autoscaling/horizontal-pod-autoscale/</a:t>
            </a:r>
          </a:p>
          <a:p xmlns:a="http://schemas.openxmlformats.org/drawingml/2006/main">
            <a:r>
              <a:t>https://incompleteideas.net/book/the-book-2nd.html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Suggested division: Presenter 1 slides 1–4; Presenter 2 slides 5–8; Presenter 3 slides 9–12; Presenter 4 slides 13–16.</a:t>
            </a:r>
          </a:p>
          <a:p xmlns:a="http://schemas.openxmlformats.org/drawingml/2006/main">
            <a:r>
              <a:t>The agent is one centralized resource manager. The environment contains an incoming workload, FIFO request queue and identical instances. CPU and latency are derived telemetry. Memory is fixed per instance and assumed sufficient; vertical scaling is outside this initial scope. All settings on the slide are proposed.</a:t>
            </a:r>
          </a:p>
          <a:p xmlns:a="http://schemas.openxmlformats.org/drawingml/2006/main">
            <a:r>
              <a:t>[Sources]</a:t>
            </a:r>
          </a:p>
          <a:p xmlns:a="http://schemas.openxmlformats.org/drawingml/2006/main">
            <a:r>
              <a:t>Proposed case-study design; numerical settings are illustrative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Suggested division: Presenter 1 slides 1–4; Presenter 2 slides 5–8; Presenter 3 slides 9–12; Presenter 4 slides 13–16.</a:t>
            </a:r>
          </a:p>
          <a:p xmlns:a="http://schemas.openxmlformats.org/drawingml/2006/main">
            <a:r>
              <a:t>The controller uses a compact discrete state for Q-learning. CPU and latency are measured for monitoring and reward but omitted from the initial table to limit its size. The demand trend summarizes recent history. This observation is an approximate Markov state, not a guarantee of full observability.</a:t>
            </a:r>
          </a:p>
          <a:p xmlns:a="http://schemas.openxmlformats.org/drawingml/2006/main">
            <a:r>
              <a:t>[Sources]</a:t>
            </a:r>
          </a:p>
          <a:p xmlns:a="http://schemas.openxmlformats.org/drawingml/2006/main">
            <a:r>
              <a:t>Proposed case-study design; numerical settings are illustrative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Suggested division: Presenter 1 slides 1–4; Presenter 2 slides 5–8; Presenter 3 slides 9–12; Presenter 4 slides 13–16.</a:t>
            </a:r>
          </a:p>
          <a:p xmlns:a="http://schemas.openxmlformats.org/drawingml/2006/main">
            <a:r>
              <a:t>Action masking excludes invalid actions during both exploration and greedy selection. At most one instance can be pending. While it starts, only hold is permitted. Scale-in removes an idle instance; otherwise it is masked. This avoids dropping in-flight work in our simplified simulator.</a:t>
            </a:r>
          </a:p>
          <a:p xmlns:a="http://schemas.openxmlformats.org/drawingml/2006/main">
            <a:r>
              <a:t>[Sources]</a:t>
            </a:r>
          </a:p>
          <a:p xmlns:a="http://schemas.openxmlformats.org/drawingml/2006/main">
            <a:r>
              <a:t>Proposed case-study design; numerical settings are illustrative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Suggested division: Presenter 1 slides 1–4; Presenter 2 slides 5–8; Presenter 3 slides 9–12; Presenter 4 slides 13–16.</a:t>
            </a:r>
          </a:p>
          <a:p xmlns:a="http://schemas.openxmlformats.org/drawingml/2006/main">
            <a:r>
              <a:t>The reward is measured after each action interval. g is the fraction of requests resolved in the interval that completed within 200 ms. Timeouts count as resolved failures. v is the fraction of resolved requests exceeding 200 ms or timing out. Empty resolved intervals set g and v to zero. c is billed instance-seconds divided by the maximum possible in a step, including startup billing. q is queue length divided by queue limit, clipped to one. m is one if a scaling action was applied. Weight choices are illustrative and require sensitivity checks.</a:t>
            </a:r>
          </a:p>
          <a:p xmlns:a="http://schemas.openxmlformats.org/drawingml/2006/main">
            <a:r>
              <a:t>[Sources]</a:t>
            </a:r>
          </a:p>
          <a:p xmlns:a="http://schemas.openxmlformats.org/drawingml/2006/main">
            <a:r>
              <a:t>Proposed case-study design; numerical settings are illustrative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Suggested division: Presenter 1 slides 1–4; Presenter 2 slides 5–8; Presenter 3 slides 9–12; Presenter 4 slides 13–16.</a:t>
            </a:r>
          </a:p>
          <a:p xmlns:a="http://schemas.openxmlformats.org/drawingml/2006/main">
            <a:r>
              <a:t>Real cloud operation continues indefinitely. Training uses finite windows for convenience; a time-limit truncation is not a natural terminal state. Future arrivals and service times are uncertain. The binned state loses detail, so textbook Q-learning convergence assumptions should not be claimed for this real setting.</a:t>
            </a:r>
          </a:p>
          <a:p xmlns:a="http://schemas.openxmlformats.org/drawingml/2006/main">
            <a:r>
              <a:t>[Sources]</a:t>
            </a:r>
          </a:p>
          <a:p xmlns:a="http://schemas.openxmlformats.org/drawingml/2006/main">
            <a:r>
              <a:t>https://incompleteideas.net/book/the-book-2nd.html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Suggested division: Presenter 1 slides 1–4; Presenter 2 slides 5–8; Presenter 3 slides 9–12; Presenter 4 slides 13–16.</a:t>
            </a:r>
          </a:p>
          <a:p xmlns:a="http://schemas.openxmlformats.org/drawingml/2006/main">
            <a:r>
              <a:t>Q-learning is an off-policy, model-free TD control method. It estimates action values and uses a greedy target. Epsilon-greedy exploration tries random valid actions with probability epsilon. The compact state has 3 times 3 times 5 times 2 times 3 equals 270 nominal states and at most 810 table entries. Some combinations are unreachable. Binning and partial observability limit guarantees.</a:t>
            </a:r>
          </a:p>
          <a:p xmlns:a="http://schemas.openxmlformats.org/drawingml/2006/main">
            <a:r>
              <a:t>[Sources]</a:t>
            </a:r>
          </a:p>
          <a:p xmlns:a="http://schemas.openxmlformats.org/drawingml/2006/main">
            <a:r>
              <a:t>https://incompleteideas.net/book/the-book-2nd.html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Suggested division: Presenter 1 slides 1–4; Presenter 2 slides 5–8; Presenter 3 slides 9–12; Presenter 4 slides 13–16.</a:t>
            </a:r>
          </a:p>
          <a:p xmlns:a="http://schemas.openxmlformats.org/drawingml/2006/main">
            <a:r>
              <a:t>Explain Q as expected discounted return for choosing an action in a state. Alpha controls how much new experience changes the estimate. Gamma values later rewards. The maximum is over valid next actions. Illustrative starting values are alpha 0.1 and gamma 0.95, with epsilon decaying from 1.0 to 0.05. These are not tuned results.</a:t>
            </a:r>
          </a:p>
          <a:p xmlns:a="http://schemas.openxmlformats.org/drawingml/2006/main">
            <a:r>
              <a:t>[Sources]</a:t>
            </a:r>
          </a:p>
          <a:p xmlns:a="http://schemas.openxmlformats.org/drawingml/2006/main">
            <a:r>
              <a:t>https://incompleteideas.net/book/the-book-2nd.html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Suggested division: Presenter 1 slides 1–4; Presenter 2 slides 5–8; Presenter 3 slides 9–12; Presenter 4 slides 13–16.</a:t>
            </a:r>
          </a:p>
          <a:p xmlns:a="http://schemas.openxmlformats.org/drawingml/2006/main">
            <a:r>
              <a:t>Read the workflow from top to bottom. The environment produces telemetry, which is encoded into a state. The agent selects a valid scaling action. After the interval, the simulator returns reward and next state. Q-learning updates its table and repeats. At evaluation time, freeze the table and disable exploration.</a:t>
            </a:r>
          </a:p>
          <a:p xmlns:a="http://schemas.openxmlformats.org/drawingml/2006/main">
            <a:r>
              <a:t>[Sources]</a:t>
            </a:r>
          </a:p>
          <a:p xmlns:a="http://schemas.openxmlformats.org/drawingml/2006/main">
            <a:r>
              <a:t>RL_CIA_3_Complete_Deliverables.pdf, p. 2.</a:t>
            </a:r>
          </a:p>
          <a:p xmlns:a="http://schemas.openxmlformats.org/drawingml/2006/main">
            <a:r>
              <a:t>https://incompleteideas.net/book/the-book-2nd.html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Suggested division: Presenter 1 slides 1–4; Presenter 2 slides 5–8; Presenter 3 slides 9–12; Presenter 4 slides 13–16.</a:t>
            </a:r>
          </a:p>
          <a:p xmlns:a="http://schemas.openxmlformats.org/drawingml/2006/main">
            <a:r>
              <a:t>This is a capacity arithmetic example, not a trained policy or performance result. Assume each server can handle up to 100 requests per second. With two instances, 240 incoming requests per second exceed capacity. A requested third instance is only available next step. The queue still needs to drain even after capacity increases.</a:t>
            </a:r>
          </a:p>
          <a:p xmlns:a="http://schemas.openxmlformats.org/drawingml/2006/main">
            <a:r>
              <a:t>[Sources]</a:t>
            </a:r>
          </a:p>
          <a:p xmlns:a="http://schemas.openxmlformats.org/drawingml/2006/main">
            <a:r>
              <a:t>Proposed case-study design; numerical settings are illustrative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Suggested division: Presenter 1 slides 1–4; Presenter 2 slides 5–8; Presenter 3 slides 9–12; Presenter 4 slides 13–16.</a:t>
            </a:r>
          </a:p>
          <a:p xmlns:a="http://schemas.openxmlformats.org/drawingml/2006/main">
            <a:r>
              <a:t>Propose RL plus predictive analytics as the innovation. Start with a moving average or exponential smoothing forecast based only on past observations. Add a three-level forecast band to the state, raising the nominal state count to 810. Compare with the same controller without forecast, on held-out workloads. Forecast errors can cause unnecessary scale-out, so the extension requires validation.</a:t>
            </a:r>
          </a:p>
          <a:p xmlns:a="http://schemas.openxmlformats.org/drawingml/2006/main">
            <a:r>
              <a:t>[Sources]</a:t>
            </a:r>
          </a:p>
          <a:p xmlns:a="http://schemas.openxmlformats.org/drawingml/2006/main">
            <a:r>
              <a:t>Proposed case-study design; numerical settings are illustrative assumptions.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Suggested division: Presenter 1 slides 1–4; Presenter 2 slides 5–8; Presenter 3 slides 9–12; Presenter 4 slides 13–16.</a:t>
            </a:r>
          </a:p>
          <a:p xmlns:a="http://schemas.openxmlformats.org/drawingml/2006/main">
            <a:r>
              <a:t>Continue with this exact environment. Implement Q-learning, SARSA, Expected SARSA and Dyna-Q. Compare on identical evaluation workloads and multiple seeds with exploration disabled. Include a threshold baseline. Report mean and variability, and disclose Dyna-Q planning steps because additional computation affects fairness. No algorithm is declared best before experiments.</a:t>
            </a:r>
          </a:p>
          <a:p xmlns:a="http://schemas.openxmlformats.org/drawingml/2006/main">
            <a:r>
              <a:t>[Sources]</a:t>
            </a:r>
          </a:p>
          <a:p xmlns:a="http://schemas.openxmlformats.org/drawingml/2006/main">
            <a:r>
              <a:t>RL_CIA_3_Complete_Deliverables.pdf, pp. 2–3.</a:t>
            </a:r>
          </a:p>
          <a:p xmlns:a="http://schemas.openxmlformats.org/drawingml/2006/main">
            <a:r>
              <a:t>https://incompleteideas.net/book/the-book-2nd.html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Suggested division: Presenter 1 slides 1–4; Presenter 2 slides 5–8; Presenter 3 slides 9–12; Presenter 4 slides 13–16.</a:t>
            </a:r>
          </a:p>
          <a:p xmlns:a="http://schemas.openxmlformats.org/drawingml/2006/main">
            <a:r>
              <a:t>Close with the central claim as a testable proposal: an RL controller can learn the trade-off between serving requests and paying for resources. We have defined the environment, state, actions, reward, algorithm and predictive extension. The next step is implementation and evidence, not an assumed improvement. References shown support RL fundamentals, existing autoscaling and the assignment requirements.</a:t>
            </a:r>
          </a:p>
          <a:p xmlns:a="http://schemas.openxmlformats.org/drawingml/2006/main">
            <a:r>
              <a:t>[Sources]</a:t>
            </a:r>
          </a:p>
          <a:p xmlns:a="http://schemas.openxmlformats.org/drawingml/2006/main">
            <a:r>
              <a:t>RL_CIA_3_Complete_Deliverables.pdf, pp. 1–3.</a:t>
            </a:r>
          </a:p>
          <a:p xmlns:a="http://schemas.openxmlformats.org/drawingml/2006/main">
            <a:r>
              <a:t>https://incompleteideas.net/book/the-book-2nd.html</a:t>
            </a:r>
          </a:p>
          <a:p xmlns:a="http://schemas.openxmlformats.org/drawingml/2006/main">
            <a:r>
              <a:t>https://kubernetes.io/docs/concepts/workloads/autoscaling/horizontal-pod-autoscale/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48a9afbae841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7e8d6c7b7047b3" /><Relationship Type="http://schemas.openxmlformats.org/officeDocument/2006/relationships/slideLayout" Target="/ppt/slideLayouts/slideLayout1.xml" Id="Rfeb4d52c6cbf44f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eb4d52c6cbf44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71141750ea4c7a" /><Relationship Type="http://schemas.openxmlformats.org/officeDocument/2006/relationships/notesSlide" Target="/ppt/notesSlides/notesSlide1.xml" Id="R9e323dcd323745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89fb1a62824376" /><Relationship Type="http://schemas.openxmlformats.org/officeDocument/2006/relationships/notesSlide" Target="/ppt/notesSlides/notesSlide2.xml" Id="R831c43e6dc3c48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a0f74a91c04b44" /><Relationship Type="http://schemas.openxmlformats.org/officeDocument/2006/relationships/notesSlide" Target="/ppt/notesSlides/notesSlide3.xml" Id="R46532ca4741d4a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d733d961674f2a" /><Relationship Type="http://schemas.openxmlformats.org/officeDocument/2006/relationships/notesSlide" Target="/ppt/notesSlides/notesSlide4.xml" Id="Rffb85440f68044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624de9ef614fe8" /><Relationship Type="http://schemas.openxmlformats.org/officeDocument/2006/relationships/notesSlide" Target="/ppt/notesSlides/notesSlide5.xml" Id="R9f6c80f399084b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c7fa9da5404571" /><Relationship Type="http://schemas.openxmlformats.org/officeDocument/2006/relationships/notesSlide" Target="/ppt/notesSlides/notesSlide6.xml" Id="Re7d49bbb7b4240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b397af15c34526" /><Relationship Type="http://schemas.openxmlformats.org/officeDocument/2006/relationships/notesSlide" Target="/ppt/notesSlides/notesSlide7.xml" Id="R4367af6549a342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854577555734d75" /><Relationship Type="http://schemas.openxmlformats.org/officeDocument/2006/relationships/notesSlide" Target="/ppt/notesSlides/notesSlide8.xml" Id="Rc38087db97ea45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1d2994dc3a41cf" /><Relationship Type="http://schemas.openxmlformats.org/officeDocument/2006/relationships/notesSlide" Target="/ppt/notesSlides/notesSlide9.xml" Id="Rd9ec47c7259448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60c7ce721e4cea" /><Relationship Type="http://schemas.openxmlformats.org/officeDocument/2006/relationships/notesSlide" Target="/ppt/notesSlides/notesSlide10.xml" Id="R6ba8ec80ddbd4e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f96b70269b4cdd" /><Relationship Type="http://schemas.openxmlformats.org/officeDocument/2006/relationships/notesSlide" Target="/ppt/notesSlides/notesSlide11.xml" Id="Rc289b2328f3840c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ea110805b246cd" /><Relationship Type="http://schemas.openxmlformats.org/officeDocument/2006/relationships/notesSlide" Target="/ppt/notesSlides/notesSlide12.xml" Id="Rb57650b0adb74ed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3afbb9bacf24091" /><Relationship Type="http://schemas.openxmlformats.org/officeDocument/2006/relationships/notesSlide" Target="/ppt/notesSlides/notesSlide13.xml" Id="Rda1055fac5a34d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915fb8c26047a1" /><Relationship Type="http://schemas.openxmlformats.org/officeDocument/2006/relationships/notesSlide" Target="/ppt/notesSlides/notesSlide14.xml" Id="R0925539b81554d8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3fa5d3779a410d" /><Relationship Type="http://schemas.openxmlformats.org/officeDocument/2006/relationships/notesSlide" Target="/ppt/notesSlides/notesSlide15.xml" Id="Rdc4cfc8bad8f44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68225baa03497e" /><Relationship Type="http://schemas.openxmlformats.org/officeDocument/2006/relationships/notesSlide" Target="/ppt/notesSlides/notesSlide16.xml" Id="R4e038ea731604c0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57477F-D9CB-4123-B5BA-799D38886C52}"/>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04443539-26D2-421A-82D2-0C569561180D}"/>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92181D60-94E3-4EC5-91DD-DDC39A42F1EE}"/>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01</a:t>
            </a:r>
          </a:p>
        </p:txBody>
      </p:sp>
      <p:sp>
        <p:nvSpPr>
          <p:cNvPr id="4" name="">
            <a:extLst xmlns:a="http://schemas.openxmlformats.org/drawingml/2006/main">
              <a:ext uri="{FF2B5EF4-FFF2-40B4-BE49-F238E27FC236}">
                <a16:creationId xmlns:a16="http://schemas.microsoft.com/office/drawing/2014/main" id="{EF344095-A9CF-48D7-8A3D-6843525CA485}"/>
              </a:ext>
            </a:extLst>
          </p:cNvPr>
          <p:cNvSpPr>
            <a:spLocks xmlns:a="http://schemas.openxmlformats.org/drawingml/2006/main" noGrp="1"/>
          </p:cNvSpPr>
          <p:nvPr/>
        </p:nvSpPr>
        <p:spPr>
          <a:xfrm xmlns:a="http://schemas.openxmlformats.org/drawingml/2006/main">
            <a:off x="495300" y="1857375"/>
            <a:ext cx="11201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5175" b="1">
                <a:solidFill>
                  <a:srgbClr val="171717"/>
                </a:solidFill>
              </a:defRPr>
            </a:pPr>
            <a:r>
              <a:rPr sz="5175" b="1">
                <a:solidFill>
                  <a:srgbClr val="171717"/>
                </a:solidFill>
              </a:rPr>
              <a:t>ADAPTIVE CLOUD SERVER</a:t>
            </a:r>
          </a:p>
        </p:txBody>
      </p:sp>
      <p:sp>
        <p:nvSpPr>
          <p:cNvPr id="5" name="">
            <a:extLst xmlns:a="http://schemas.openxmlformats.org/drawingml/2006/main">
              <a:ext uri="{FF2B5EF4-FFF2-40B4-BE49-F238E27FC236}">
                <a16:creationId xmlns:a16="http://schemas.microsoft.com/office/drawing/2014/main" id="{FE44F697-5CBE-4C6F-9E4F-8F53407F66AC}"/>
              </a:ext>
            </a:extLst>
          </p:cNvPr>
          <p:cNvSpPr>
            <a:spLocks xmlns:a="http://schemas.openxmlformats.org/drawingml/2006/main" noGrp="1"/>
          </p:cNvSpPr>
          <p:nvPr/>
        </p:nvSpPr>
        <p:spPr>
          <a:xfrm xmlns:a="http://schemas.openxmlformats.org/drawingml/2006/main">
            <a:off x="495300" y="2762250"/>
            <a:ext cx="11201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5175" b="1">
                <a:solidFill>
                  <a:srgbClr val="171717"/>
                </a:solidFill>
              </a:defRPr>
            </a:pPr>
            <a:r>
              <a:rPr sz="5175" b="1">
                <a:solidFill>
                  <a:srgbClr val="171717"/>
                </a:solidFill>
              </a:rPr>
              <a:t>RESOURCE ALLOCATION</a:t>
            </a:r>
          </a:p>
        </p:txBody>
      </p:sp>
      <p:sp>
        <p:nvSpPr>
          <p:cNvPr id="6" name="">
            <a:extLst xmlns:a="http://schemas.openxmlformats.org/drawingml/2006/main">
              <a:ext uri="{FF2B5EF4-FFF2-40B4-BE49-F238E27FC236}">
                <a16:creationId xmlns:a16="http://schemas.microsoft.com/office/drawing/2014/main" id="{4784979E-A4FF-4DC5-A1D3-8C65D3EA744D}"/>
              </a:ext>
            </a:extLst>
          </p:cNvPr>
          <p:cNvSpPr>
            <a:spLocks xmlns:a="http://schemas.openxmlformats.org/drawingml/2006/main" noGrp="1"/>
          </p:cNvSpPr>
          <p:nvPr/>
        </p:nvSpPr>
        <p:spPr>
          <a:xfrm xmlns:a="http://schemas.openxmlformats.org/drawingml/2006/main">
            <a:off x="495300" y="4333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0">
                <a:solidFill>
                  <a:srgbClr val="171717"/>
                </a:solidFill>
              </a:defRPr>
            </a:pPr>
            <a:r>
              <a:rPr sz="2475" b="0">
                <a:solidFill>
                  <a:srgbClr val="171717"/>
                </a:solidFill>
              </a:rPr>
              <a:t>Learning when to scale with reinforcement learning</a:t>
            </a:r>
          </a:p>
        </p:txBody>
      </p:sp>
      <p:sp>
        <p:nvSpPr>
          <p:cNvPr id="7" name="">
            <a:extLst xmlns:a="http://schemas.openxmlformats.org/drawingml/2006/main">
              <a:ext uri="{FF2B5EF4-FFF2-40B4-BE49-F238E27FC236}">
                <a16:creationId xmlns:a16="http://schemas.microsoft.com/office/drawing/2014/main" id="{0431C385-7BEC-42EC-AE76-04C3E3BA8A7D}"/>
              </a:ext>
            </a:extLst>
          </p:cNvPr>
          <p:cNvSpPr>
            <a:spLocks xmlns:a="http://schemas.openxmlformats.org/drawingml/2006/main" noGrp="1"/>
          </p:cNvSpPr>
          <p:nvPr/>
        </p:nvSpPr>
        <p:spPr>
          <a:xfrm xmlns:a="http://schemas.openxmlformats.org/drawingml/2006/main">
            <a:off x="495300" y="50482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875" b="0">
                <a:solidFill>
                  <a:srgbClr val="555555"/>
                </a:solidFill>
              </a:defRPr>
            </a:pPr>
            <a:r>
              <a:rPr sz="1875" b="0">
                <a:solidFill>
                  <a:srgbClr val="555555"/>
                </a:solidFill>
              </a:rPr>
              <a:t>Case study • Horizontal scaling of a cloud application</a:t>
            </a:r>
          </a:p>
        </p:txBody>
      </p:sp>
    </p:spTree>
    <p:extLst>
      <p:ext uri="{BB962C8B-B14F-4D97-AF65-F5344CB8AC3E}">
        <p14:creationId xmlns:p14="http://schemas.microsoft.com/office/powerpoint/2010/main" val="10026866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D3A9E1-46E0-4043-A19C-AF250CAEC09F}"/>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Too little capacity hurts service</a:t>
            </a:r>
          </a:p>
        </p:txBody>
      </p:sp>
      <p:sp>
        <p:nvSpPr>
          <p:cNvPr id="2" name="">
            <a:extLst xmlns:a="http://schemas.openxmlformats.org/drawingml/2006/main">
              <a:ext uri="{FF2B5EF4-FFF2-40B4-BE49-F238E27FC236}">
                <a16:creationId xmlns:a16="http://schemas.microsoft.com/office/drawing/2014/main" id="{89F143EA-6E0F-4642-9BB6-1C9C2647DC8D}"/>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E43D0ADB-748B-4880-A215-99B098DAB9DF}"/>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02</a:t>
            </a:r>
          </a:p>
        </p:txBody>
      </p:sp>
      <p:sp>
        <p:nvSpPr>
          <p:cNvPr id="4" name="">
            <a:extLst xmlns:a="http://schemas.openxmlformats.org/drawingml/2006/main">
              <a:ext uri="{FF2B5EF4-FFF2-40B4-BE49-F238E27FC236}">
                <a16:creationId xmlns:a16="http://schemas.microsoft.com/office/drawing/2014/main" id="{87E299CC-D257-47F7-8708-28733EB8EC63}"/>
              </a:ext>
            </a:extLst>
          </p:cNvPr>
          <p:cNvSpPr>
            <a:spLocks xmlns:a="http://schemas.openxmlformats.org/drawingml/2006/main" noGrp="1"/>
          </p:cNvSpPr>
          <p:nvPr/>
        </p:nvSpPr>
        <p:spPr>
          <a:xfrm xmlns:a="http://schemas.openxmlformats.org/drawingml/2006/main">
            <a:off x="495300" y="19716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Under-provisioning</a:t>
            </a:r>
          </a:p>
        </p:txBody>
      </p:sp>
      <p:sp>
        <p:nvSpPr>
          <p:cNvPr id="5" name="">
            <a:extLst xmlns:a="http://schemas.openxmlformats.org/drawingml/2006/main">
              <a:ext uri="{FF2B5EF4-FFF2-40B4-BE49-F238E27FC236}">
                <a16:creationId xmlns:a16="http://schemas.microsoft.com/office/drawing/2014/main" id="{FC4C2570-F11C-4BAE-9909-BFAEDFA75E81}"/>
              </a:ext>
            </a:extLst>
          </p:cNvPr>
          <p:cNvSpPr>
            <a:spLocks xmlns:a="http://schemas.openxmlformats.org/drawingml/2006/main" noGrp="1"/>
          </p:cNvSpPr>
          <p:nvPr/>
        </p:nvSpPr>
        <p:spPr>
          <a:xfrm xmlns:a="http://schemas.openxmlformats.org/drawingml/2006/main">
            <a:off x="495300" y="2638425"/>
            <a:ext cx="5191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Too few servers create queues.</a:t>
            </a:r>
          </a:p>
          <a:p xmlns:a="http://schemas.openxmlformats.org/drawingml/2006/main">
            <a:r>
              <a:t/>
            </a:r>
          </a:p>
          <a:p xmlns:a="http://schemas.openxmlformats.org/drawingml/2006/main">
            <a:pPr>
              <a:defRPr sz="2250" b="0">
                <a:solidFill>
                  <a:srgbClr val="171717"/>
                </a:solidFill>
              </a:defRPr>
            </a:pPr>
            <a:r>
              <a:rPr sz="2250" b="0">
                <a:solidFill>
                  <a:srgbClr val="171717"/>
                </a:solidFill>
              </a:rPr>
              <a:t>Requests wait longer and may miss the service target.</a:t>
            </a:r>
          </a:p>
        </p:txBody>
      </p:sp>
      <p:sp>
        <p:nvSpPr>
          <p:cNvPr id="6" name="">
            <a:extLst xmlns:a="http://schemas.openxmlformats.org/drawingml/2006/main">
              <a:ext uri="{FF2B5EF4-FFF2-40B4-BE49-F238E27FC236}">
                <a16:creationId xmlns:a16="http://schemas.microsoft.com/office/drawing/2014/main" id="{8E8301EE-11E9-44C5-8958-2562E7682B82}"/>
              </a:ext>
            </a:extLst>
          </p:cNvPr>
          <p:cNvSpPr>
            <a:spLocks xmlns:a="http://schemas.openxmlformats.org/drawingml/2006/main" noGrp="1"/>
          </p:cNvSpPr>
          <p:nvPr/>
        </p:nvSpPr>
        <p:spPr>
          <a:xfrm xmlns:a="http://schemas.openxmlformats.org/drawingml/2006/main">
            <a:off x="6343650" y="1971675"/>
            <a:ext cx="535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Over-provisioning</a:t>
            </a:r>
          </a:p>
        </p:txBody>
      </p:sp>
      <p:sp>
        <p:nvSpPr>
          <p:cNvPr id="7" name="">
            <a:extLst xmlns:a="http://schemas.openxmlformats.org/drawingml/2006/main">
              <a:ext uri="{FF2B5EF4-FFF2-40B4-BE49-F238E27FC236}">
                <a16:creationId xmlns:a16="http://schemas.microsoft.com/office/drawing/2014/main" id="{C3473520-0252-42EE-A43A-5124DC3D7758}"/>
              </a:ext>
            </a:extLst>
          </p:cNvPr>
          <p:cNvSpPr>
            <a:spLocks xmlns:a="http://schemas.openxmlformats.org/drawingml/2006/main" noGrp="1"/>
          </p:cNvSpPr>
          <p:nvPr/>
        </p:nvSpPr>
        <p:spPr>
          <a:xfrm xmlns:a="http://schemas.openxmlformats.org/drawingml/2006/main">
            <a:off x="6343650" y="2638425"/>
            <a:ext cx="53530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Too many servers remain idle.</a:t>
            </a:r>
          </a:p>
          <a:p xmlns:a="http://schemas.openxmlformats.org/drawingml/2006/main">
            <a:r>
              <a:t/>
            </a:r>
          </a:p>
          <a:p xmlns:a="http://schemas.openxmlformats.org/drawingml/2006/main">
            <a:pPr>
              <a:defRPr sz="2250" b="0">
                <a:solidFill>
                  <a:srgbClr val="171717"/>
                </a:solidFill>
              </a:defRPr>
            </a:pPr>
            <a:r>
              <a:rPr sz="2250" b="0">
                <a:solidFill>
                  <a:srgbClr val="171717"/>
                </a:solidFill>
              </a:rPr>
              <a:t>The application pays for capacity it does not need.</a:t>
            </a:r>
          </a:p>
        </p:txBody>
      </p:sp>
    </p:spTree>
    <p:extLst>
      <p:ext uri="{BB962C8B-B14F-4D97-AF65-F5344CB8AC3E}">
        <p14:creationId xmlns:p14="http://schemas.microsoft.com/office/powerpoint/2010/main" val="16796363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4E23F1-680C-419F-8F45-500E56654118}"/>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Scaling now changes later performance</a:t>
            </a:r>
          </a:p>
        </p:txBody>
      </p:sp>
      <p:sp>
        <p:nvSpPr>
          <p:cNvPr id="2" name="">
            <a:extLst xmlns:a="http://schemas.openxmlformats.org/drawingml/2006/main">
              <a:ext uri="{FF2B5EF4-FFF2-40B4-BE49-F238E27FC236}">
                <a16:creationId xmlns:a16="http://schemas.microsoft.com/office/drawing/2014/main" id="{6B3041A6-FC52-4438-A381-BDC756236331}"/>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B27294DE-C907-4EC7-9F43-0BECCC9D1189}"/>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03</a:t>
            </a:r>
          </a:p>
        </p:txBody>
      </p:sp>
      <p:sp>
        <p:nvSpPr>
          <p:cNvPr id="4" name="">
            <a:extLst xmlns:a="http://schemas.openxmlformats.org/drawingml/2006/main">
              <a:ext uri="{FF2B5EF4-FFF2-40B4-BE49-F238E27FC236}">
                <a16:creationId xmlns:a16="http://schemas.microsoft.com/office/drawing/2014/main" id="{FBDBCE0B-EA99-442F-A48F-97BD5C59F0C4}"/>
              </a:ext>
            </a:extLst>
          </p:cNvPr>
          <p:cNvSpPr>
            <a:spLocks xmlns:a="http://schemas.openxmlformats.org/drawingml/2006/main" noGrp="1"/>
          </p:cNvSpPr>
          <p:nvPr/>
        </p:nvSpPr>
        <p:spPr>
          <a:xfrm xmlns:a="http://schemas.openxmlformats.org/drawingml/2006/main">
            <a:off x="495300" y="19716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Decision every 60 seconds</a:t>
            </a:r>
          </a:p>
        </p:txBody>
      </p:sp>
      <p:sp>
        <p:nvSpPr>
          <p:cNvPr id="5" name="">
            <a:extLst xmlns:a="http://schemas.openxmlformats.org/drawingml/2006/main">
              <a:ext uri="{FF2B5EF4-FFF2-40B4-BE49-F238E27FC236}">
                <a16:creationId xmlns:a16="http://schemas.microsoft.com/office/drawing/2014/main" id="{C732B4D9-0412-47C7-A9C0-870891AAC4A6}"/>
              </a:ext>
            </a:extLst>
          </p:cNvPr>
          <p:cNvSpPr>
            <a:spLocks xmlns:a="http://schemas.openxmlformats.org/drawingml/2006/main" noGrp="1"/>
          </p:cNvSpPr>
          <p:nvPr/>
        </p:nvSpPr>
        <p:spPr>
          <a:xfrm xmlns:a="http://schemas.openxmlformats.org/drawingml/2006/main">
            <a:off x="495300" y="2638425"/>
            <a:ext cx="5191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Add one instance, remove one, or hold.</a:t>
            </a:r>
          </a:p>
          <a:p xmlns:a="http://schemas.openxmlformats.org/drawingml/2006/main">
            <a:r>
              <a:t/>
            </a:r>
          </a:p>
          <a:p xmlns:a="http://schemas.openxmlformats.org/drawingml/2006/main">
            <a:pPr>
              <a:defRPr sz="2250" b="0">
                <a:solidFill>
                  <a:srgbClr val="171717"/>
                </a:solidFill>
              </a:defRPr>
            </a:pPr>
            <a:r>
              <a:rPr sz="2250" b="0">
                <a:solidFill>
                  <a:srgbClr val="171717"/>
                </a:solidFill>
              </a:rPr>
              <a:t>Startup delay means extra capacity arrives later.</a:t>
            </a:r>
          </a:p>
        </p:txBody>
      </p:sp>
      <p:sp>
        <p:nvSpPr>
          <p:cNvPr id="6" name="">
            <a:extLst xmlns:a="http://schemas.openxmlformats.org/drawingml/2006/main">
              <a:ext uri="{FF2B5EF4-FFF2-40B4-BE49-F238E27FC236}">
                <a16:creationId xmlns:a16="http://schemas.microsoft.com/office/drawing/2014/main" id="{AF7C9F66-86AE-4393-937D-3A7D9AC567DC}"/>
              </a:ext>
            </a:extLst>
          </p:cNvPr>
          <p:cNvSpPr>
            <a:spLocks xmlns:a="http://schemas.openxmlformats.org/drawingml/2006/main" noGrp="1"/>
          </p:cNvSpPr>
          <p:nvPr/>
        </p:nvSpPr>
        <p:spPr>
          <a:xfrm xmlns:a="http://schemas.openxmlformats.org/drawingml/2006/main">
            <a:off x="6343650" y="1971675"/>
            <a:ext cx="535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Long-term objective</a:t>
            </a:r>
          </a:p>
        </p:txBody>
      </p:sp>
      <p:sp>
        <p:nvSpPr>
          <p:cNvPr id="7" name="">
            <a:extLst xmlns:a="http://schemas.openxmlformats.org/drawingml/2006/main">
              <a:ext uri="{FF2B5EF4-FFF2-40B4-BE49-F238E27FC236}">
                <a16:creationId xmlns:a16="http://schemas.microsoft.com/office/drawing/2014/main" id="{2487B1E2-75B5-42C4-8270-834BAEFC6833}"/>
              </a:ext>
            </a:extLst>
          </p:cNvPr>
          <p:cNvSpPr>
            <a:spLocks xmlns:a="http://schemas.openxmlformats.org/drawingml/2006/main" noGrp="1"/>
          </p:cNvSpPr>
          <p:nvPr/>
        </p:nvSpPr>
        <p:spPr>
          <a:xfrm xmlns:a="http://schemas.openxmlformats.org/drawingml/2006/main">
            <a:off x="6343650" y="2638425"/>
            <a:ext cx="53530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Keep requests within the service target while reducing total server cost and unnecessary scaling.</a:t>
            </a:r>
          </a:p>
        </p:txBody>
      </p:sp>
    </p:spTree>
    <p:extLst>
      <p:ext uri="{BB962C8B-B14F-4D97-AF65-F5344CB8AC3E}">
        <p14:creationId xmlns:p14="http://schemas.microsoft.com/office/powerpoint/2010/main" val="15237534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1185D9-12FE-4DFE-8160-7E11F45E4B42}"/>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RL learns the cost–latency trade-off</a:t>
            </a:r>
          </a:p>
        </p:txBody>
      </p:sp>
      <p:sp>
        <p:nvSpPr>
          <p:cNvPr id="2" name="">
            <a:extLst xmlns:a="http://schemas.openxmlformats.org/drawingml/2006/main">
              <a:ext uri="{FF2B5EF4-FFF2-40B4-BE49-F238E27FC236}">
                <a16:creationId xmlns:a16="http://schemas.microsoft.com/office/drawing/2014/main" id="{1C84064B-5191-4E93-B773-CD68BCF811F2}"/>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04B1B5A9-5CC1-403F-BA03-E6E038430B8D}"/>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04</a:t>
            </a:r>
          </a:p>
        </p:txBody>
      </p:sp>
      <p:sp>
        <p:nvSpPr>
          <p:cNvPr id="4" name="">
            <a:extLst xmlns:a="http://schemas.openxmlformats.org/drawingml/2006/main">
              <a:ext uri="{FF2B5EF4-FFF2-40B4-BE49-F238E27FC236}">
                <a16:creationId xmlns:a16="http://schemas.microsoft.com/office/drawing/2014/main" id="{5C488B0D-6BD3-4D42-A02F-6FFEF656EBE3}"/>
              </a:ext>
            </a:extLst>
          </p:cNvPr>
          <p:cNvSpPr>
            <a:spLocks xmlns:a="http://schemas.openxmlformats.org/drawingml/2006/main" noGrp="1"/>
          </p:cNvSpPr>
          <p:nvPr/>
        </p:nvSpPr>
        <p:spPr>
          <a:xfrm xmlns:a="http://schemas.openxmlformats.org/drawingml/2006/main">
            <a:off x="495300" y="19716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Rule-based baseline</a:t>
            </a:r>
          </a:p>
        </p:txBody>
      </p:sp>
      <p:sp>
        <p:nvSpPr>
          <p:cNvPr id="5" name="">
            <a:extLst xmlns:a="http://schemas.openxmlformats.org/drawingml/2006/main">
              <a:ext uri="{FF2B5EF4-FFF2-40B4-BE49-F238E27FC236}">
                <a16:creationId xmlns:a16="http://schemas.microsoft.com/office/drawing/2014/main" id="{793F6FB7-D5FE-4E8D-BF79-A03BD94B3661}"/>
              </a:ext>
            </a:extLst>
          </p:cNvPr>
          <p:cNvSpPr>
            <a:spLocks xmlns:a="http://schemas.openxmlformats.org/drawingml/2006/main" noGrp="1"/>
          </p:cNvSpPr>
          <p:nvPr/>
        </p:nvSpPr>
        <p:spPr>
          <a:xfrm xmlns:a="http://schemas.openxmlformats.org/drawingml/2006/main">
            <a:off x="495300" y="2638425"/>
            <a:ext cx="5191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Scale out above a CPU threshold; scale in below another.</a:t>
            </a:r>
          </a:p>
          <a:p xmlns:a="http://schemas.openxmlformats.org/drawingml/2006/main">
            <a:r>
              <a:t/>
            </a:r>
          </a:p>
          <a:p xmlns:a="http://schemas.openxmlformats.org/drawingml/2006/main">
            <a:pPr>
              <a:defRPr sz="2250" b="0">
                <a:solidFill>
                  <a:srgbClr val="171717"/>
                </a:solidFill>
              </a:defRPr>
            </a:pPr>
            <a:r>
              <a:rPr sz="2250" b="0">
                <a:solidFill>
                  <a:srgbClr val="171717"/>
                </a:solidFill>
              </a:rPr>
              <a:t>Use a cooldown to reduce repeated reversals.</a:t>
            </a:r>
          </a:p>
        </p:txBody>
      </p:sp>
      <p:sp>
        <p:nvSpPr>
          <p:cNvPr id="6" name="">
            <a:extLst xmlns:a="http://schemas.openxmlformats.org/drawingml/2006/main">
              <a:ext uri="{FF2B5EF4-FFF2-40B4-BE49-F238E27FC236}">
                <a16:creationId xmlns:a16="http://schemas.microsoft.com/office/drawing/2014/main" id="{5E57818C-3BAD-40BC-AD4C-E318B24EE43E}"/>
              </a:ext>
            </a:extLst>
          </p:cNvPr>
          <p:cNvSpPr>
            <a:spLocks xmlns:a="http://schemas.openxmlformats.org/drawingml/2006/main" noGrp="1"/>
          </p:cNvSpPr>
          <p:nvPr/>
        </p:nvSpPr>
        <p:spPr>
          <a:xfrm xmlns:a="http://schemas.openxmlformats.org/drawingml/2006/main">
            <a:off x="6343650" y="1971675"/>
            <a:ext cx="535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Proposed RL controller</a:t>
            </a:r>
          </a:p>
        </p:txBody>
      </p:sp>
      <p:sp>
        <p:nvSpPr>
          <p:cNvPr id="7" name="">
            <a:extLst xmlns:a="http://schemas.openxmlformats.org/drawingml/2006/main">
              <a:ext uri="{FF2B5EF4-FFF2-40B4-BE49-F238E27FC236}">
                <a16:creationId xmlns:a16="http://schemas.microsoft.com/office/drawing/2014/main" id="{6762CCF5-742B-4284-AC0C-EF6984452C5C}"/>
              </a:ext>
            </a:extLst>
          </p:cNvPr>
          <p:cNvSpPr>
            <a:spLocks xmlns:a="http://schemas.openxmlformats.org/drawingml/2006/main" noGrp="1"/>
          </p:cNvSpPr>
          <p:nvPr/>
        </p:nvSpPr>
        <p:spPr>
          <a:xfrm xmlns:a="http://schemas.openxmlformats.org/drawingml/2006/main">
            <a:off x="6343650" y="2638425"/>
            <a:ext cx="53530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Use workload and queue feedback.</a:t>
            </a:r>
          </a:p>
          <a:p xmlns:a="http://schemas.openxmlformats.org/drawingml/2006/main">
            <a:r>
              <a:t/>
            </a:r>
          </a:p>
          <a:p xmlns:a="http://schemas.openxmlformats.org/drawingml/2006/main">
            <a:pPr>
              <a:defRPr sz="2250" b="0">
                <a:solidFill>
                  <a:srgbClr val="171717"/>
                </a:solidFill>
              </a:defRPr>
            </a:pPr>
            <a:r>
              <a:rPr sz="2250" b="0">
                <a:solidFill>
                  <a:srgbClr val="171717"/>
                </a:solidFill>
              </a:rPr>
              <a:t>Learn which valid action gives the best long-term reward.</a:t>
            </a:r>
          </a:p>
          <a:p xmlns:a="http://schemas.openxmlformats.org/drawingml/2006/main">
            <a:r>
              <a:t/>
            </a:r>
          </a:p>
          <a:p xmlns:a="http://schemas.openxmlformats.org/drawingml/2006/main">
            <a:pPr>
              <a:defRPr sz="2250" b="0">
                <a:solidFill>
                  <a:srgbClr val="171717"/>
                </a:solidFill>
              </a:defRPr>
            </a:pPr>
            <a:r>
              <a:rPr sz="2250" b="0">
                <a:solidFill>
                  <a:srgbClr val="171717"/>
                </a:solidFill>
              </a:rPr>
              <a:t>Improvement must be measured.</a:t>
            </a:r>
          </a:p>
        </p:txBody>
      </p:sp>
    </p:spTree>
    <p:extLst>
      <p:ext uri="{BB962C8B-B14F-4D97-AF65-F5344CB8AC3E}">
        <p14:creationId xmlns:p14="http://schemas.microsoft.com/office/powerpoint/2010/main" val="2044496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17E4CF-BFA2-40D8-861A-8317B6E7237F}"/>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A small cloud simulator is our environment</a:t>
            </a:r>
          </a:p>
        </p:txBody>
      </p:sp>
      <p:sp>
        <p:nvSpPr>
          <p:cNvPr id="2" name="">
            <a:extLst xmlns:a="http://schemas.openxmlformats.org/drawingml/2006/main">
              <a:ext uri="{FF2B5EF4-FFF2-40B4-BE49-F238E27FC236}">
                <a16:creationId xmlns:a16="http://schemas.microsoft.com/office/drawing/2014/main" id="{989ABEDE-35DC-4697-804F-F34F0F47CEED}"/>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757E2485-9B1C-43FE-8C25-446676B927CE}"/>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05</a:t>
            </a:r>
          </a:p>
        </p:txBody>
      </p:sp>
      <p:graphicFrame>
        <p:nvGraphicFramePr>
          <p:cNvPr id="8" name=""/>
          <p:cNvGraphicFramePr/>
          <p:nvPr/>
        </p:nvGraphicFramePr>
        <p:xfrm>
          <a:off xmlns:a="http://schemas.openxmlformats.org/drawingml/2006/main" x="495300" y="1857375"/>
          <a:ext xmlns:a="http://schemas.openxmlformats.org/drawingml/2006/main" cx="11201400" cy="3905250"/>
        </p:xfrm>
        <a:graphic xmlns:a="http://schemas.openxmlformats.org/drawingml/2006/main">
          <a:graphicData uri="http://schemas.openxmlformats.org/drawingml/2006/table">
            <a:tbl>
              <a:tblPr/>
              <a:tblGrid>
                <a:gridCol w="2714625"/>
                <a:gridCol w="8486775"/>
              </a:tblGrid>
              <a:tr h="650875">
                <a:tc>
                  <a:txBody>
                    <a:bodyPr/>
                    <a:lstStyle/>
                    <a:p>
                      <a:r>
                        <a:rPr sz="1800" b="1">
                          <a:solidFill>
                            <a:srgbClr val="171717"/>
                          </a:solidFill>
                        </a:rPr>
                        <a:t>Element</a:t>
                      </a:r>
                    </a:p>
                  </a:txBody>
                  <a:tcPr marL="91440" marR="91440" marT="45720" marB="45720">
                    <a:solidFill>
                      <a:srgbClr val="EDEDED"/>
                    </a:solidFill>
                  </a:tcPr>
                </a:tc>
                <a:tc>
                  <a:txBody>
                    <a:bodyPr/>
                    <a:lstStyle/>
                    <a:p>
                      <a:r>
                        <a:rPr sz="1800" b="1">
                          <a:solidFill>
                            <a:srgbClr val="171717"/>
                          </a:solidFill>
                        </a:rPr>
                        <a:t>Proposed design</a:t>
                      </a:r>
                    </a:p>
                  </a:txBody>
                  <a:tcPr marL="91440" marR="91440" marT="45720" marB="45720">
                    <a:solidFill>
                      <a:srgbClr val="EDEDED"/>
                    </a:solidFill>
                  </a:tcPr>
                </a:tc>
              </a:tr>
              <a:tr h="650875">
                <a:tc>
                  <a:txBody>
                    <a:bodyPr/>
                    <a:lstStyle/>
                    <a:p>
                      <a:r>
                        <a:rPr sz="1800" b="0">
                          <a:solidFill>
                            <a:srgbClr val="171717"/>
                          </a:solidFill>
                        </a:rPr>
                        <a:t>Agent</a:t>
                      </a:r>
                    </a:p>
                  </a:txBody>
                  <a:tcPr marL="91440" marR="91440" marT="45720" marB="45720">
                    <a:solidFill>
                      <a:srgbClr val="FFFFFF"/>
                    </a:solidFill>
                  </a:tcPr>
                </a:tc>
                <a:tc>
                  <a:txBody>
                    <a:bodyPr/>
                    <a:lstStyle/>
                    <a:p>
                      <a:r>
                        <a:rPr sz="1800" b="0">
                          <a:solidFill>
                            <a:srgbClr val="171717"/>
                          </a:solidFill>
                        </a:rPr>
                        <a:t>Central cloud resource manager</a:t>
                      </a:r>
                    </a:p>
                  </a:txBody>
                  <a:tcPr marL="91440" marR="91440" marT="45720" marB="45720">
                    <a:solidFill>
                      <a:srgbClr val="FFFFFF"/>
                    </a:solidFill>
                  </a:tcPr>
                </a:tc>
              </a:tr>
              <a:tr h="650875">
                <a:tc>
                  <a:txBody>
                    <a:bodyPr/>
                    <a:lstStyle/>
                    <a:p>
                      <a:r>
                        <a:rPr sz="1800" b="0">
                          <a:solidFill>
                            <a:srgbClr val="171717"/>
                          </a:solidFill>
                        </a:rPr>
                        <a:t>Environment</a:t>
                      </a:r>
                    </a:p>
                  </a:txBody>
                  <a:tcPr marL="91440" marR="91440" marT="45720" marB="45720">
                    <a:solidFill>
                      <a:srgbClr val="FFFFFF"/>
                    </a:solidFill>
                  </a:tcPr>
                </a:tc>
                <a:tc>
                  <a:txBody>
                    <a:bodyPr/>
                    <a:lstStyle/>
                    <a:p>
                      <a:r>
                        <a:rPr sz="1800" b="0">
                          <a:solidFill>
                            <a:srgbClr val="171717"/>
                          </a:solidFill>
                        </a:rPr>
                        <a:t>Request arrivals, FIFO queue and identical instances</a:t>
                      </a:r>
                    </a:p>
                  </a:txBody>
                  <a:tcPr marL="91440" marR="91440" marT="45720" marB="45720">
                    <a:solidFill>
                      <a:srgbClr val="FFFFFF"/>
                    </a:solidFill>
                  </a:tcPr>
                </a:tc>
              </a:tr>
              <a:tr h="650875">
                <a:tc>
                  <a:txBody>
                    <a:bodyPr/>
                    <a:lstStyle/>
                    <a:p>
                      <a:r>
                        <a:rPr sz="1800" b="0">
                          <a:solidFill>
                            <a:srgbClr val="171717"/>
                          </a:solidFill>
                        </a:rPr>
                        <a:t>Capacity</a:t>
                      </a:r>
                    </a:p>
                  </a:txBody>
                  <a:tcPr marL="91440" marR="91440" marT="45720" marB="45720">
                    <a:solidFill>
                      <a:srgbClr val="FFFFFF"/>
                    </a:solidFill>
                  </a:tcPr>
                </a:tc>
                <a:tc>
                  <a:txBody>
                    <a:bodyPr/>
                    <a:lstStyle/>
                    <a:p>
                      <a:r>
                        <a:rPr sz="1800" b="0">
                          <a:solidFill>
                            <a:srgbClr val="171717"/>
                          </a:solidFill>
                        </a:rPr>
                        <a:t>1–5 active instances; fixed capacity per instance</a:t>
                      </a:r>
                    </a:p>
                  </a:txBody>
                  <a:tcPr marL="91440" marR="91440" marT="45720" marB="45720">
                    <a:solidFill>
                      <a:srgbClr val="FFFFFF"/>
                    </a:solidFill>
                  </a:tcPr>
                </a:tc>
              </a:tr>
              <a:tr h="650875">
                <a:tc>
                  <a:txBody>
                    <a:bodyPr/>
                    <a:lstStyle/>
                    <a:p>
                      <a:r>
                        <a:rPr sz="1800" b="0">
                          <a:solidFill>
                            <a:srgbClr val="171717"/>
                          </a:solidFill>
                        </a:rPr>
                        <a:t>Timing</a:t>
                      </a:r>
                    </a:p>
                  </a:txBody>
                  <a:tcPr marL="91440" marR="91440" marT="45720" marB="45720">
                    <a:solidFill>
                      <a:srgbClr val="FFFFFF"/>
                    </a:solidFill>
                  </a:tcPr>
                </a:tc>
                <a:tc>
                  <a:txBody>
                    <a:bodyPr/>
                    <a:lstStyle/>
                    <a:p>
                      <a:r>
                        <a:rPr sz="1800" b="0">
                          <a:solidFill>
                            <a:srgbClr val="171717"/>
                          </a:solidFill>
                        </a:rPr>
                        <a:t>60-second steps; one-step startup delay</a:t>
                      </a:r>
                    </a:p>
                  </a:txBody>
                  <a:tcPr marL="91440" marR="91440" marT="45720" marB="45720">
                    <a:solidFill>
                      <a:srgbClr val="FFFFFF"/>
                    </a:solidFill>
                  </a:tcPr>
                </a:tc>
              </a:tr>
              <a:tr h="650875">
                <a:tc>
                  <a:txBody>
                    <a:bodyPr/>
                    <a:lstStyle/>
                    <a:p>
                      <a:r>
                        <a:rPr sz="1800" b="0">
                          <a:solidFill>
                            <a:srgbClr val="171717"/>
                          </a:solidFill>
                        </a:rPr>
                        <a:t>Service target</a:t>
                      </a:r>
                    </a:p>
                  </a:txBody>
                  <a:tcPr marL="91440" marR="91440" marT="45720" marB="45720">
                    <a:solidFill>
                      <a:srgbClr val="FFFFFF"/>
                    </a:solidFill>
                  </a:tcPr>
                </a:tc>
                <a:tc>
                  <a:txBody>
                    <a:bodyPr/>
                    <a:lstStyle/>
                    <a:p>
                      <a:r>
                        <a:rPr sz="1800" b="0">
                          <a:solidFill>
                            <a:srgbClr val="171717"/>
                          </a:solidFill>
                        </a:rPr>
                        <a:t>95th-percentile response time ≤ 200 ms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820145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F5AF63-DFC9-4A55-8363-981BE8A681D5}"/>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The state captures demand and capacity</a:t>
            </a:r>
          </a:p>
        </p:txBody>
      </p:sp>
      <p:sp>
        <p:nvSpPr>
          <p:cNvPr id="2" name="">
            <a:extLst xmlns:a="http://schemas.openxmlformats.org/drawingml/2006/main">
              <a:ext uri="{FF2B5EF4-FFF2-40B4-BE49-F238E27FC236}">
                <a16:creationId xmlns:a16="http://schemas.microsoft.com/office/drawing/2014/main" id="{02272476-F61E-4AD7-BC13-51F461BF3F63}"/>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D4E31F4C-BE49-47D9-AABB-29CF0DE2899F}"/>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06</a:t>
            </a:r>
          </a:p>
        </p:txBody>
      </p:sp>
      <p:sp>
        <p:nvSpPr>
          <p:cNvPr id="4" name="">
            <a:extLst xmlns:a="http://schemas.openxmlformats.org/drawingml/2006/main">
              <a:ext uri="{FF2B5EF4-FFF2-40B4-BE49-F238E27FC236}">
                <a16:creationId xmlns:a16="http://schemas.microsoft.com/office/drawing/2014/main" id="{52B933A9-97B4-4FAB-9F96-6AC7C9187388}"/>
              </a:ext>
            </a:extLst>
          </p:cNvPr>
          <p:cNvSpPr>
            <a:spLocks xmlns:a="http://schemas.openxmlformats.org/drawingml/2006/main" noGrp="1"/>
          </p:cNvSpPr>
          <p:nvPr/>
        </p:nvSpPr>
        <p:spPr>
          <a:xfrm xmlns:a="http://schemas.openxmlformats.org/drawingml/2006/main">
            <a:off x="495300" y="1466850"/>
            <a:ext cx="1120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025" b="1">
                <a:solidFill>
                  <a:srgbClr val="171717"/>
                </a:solidFill>
              </a:defRPr>
            </a:pPr>
            <a:r>
              <a:rPr sz="2025" b="1">
                <a:solidFill>
                  <a:srgbClr val="171717"/>
                </a:solidFill>
              </a:rPr>
              <a:t>s = (arrival band, queue band, active instances, pending start, trend)</a:t>
            </a:r>
          </a:p>
        </p:txBody>
      </p:sp>
      <p:graphicFrame>
        <p:nvGraphicFramePr>
          <p:cNvPr id="10" name=""/>
          <p:cNvGraphicFramePr/>
          <p:nvPr/>
        </p:nvGraphicFramePr>
        <p:xfrm>
          <a:off xmlns:a="http://schemas.openxmlformats.org/drawingml/2006/main" x="495300" y="2143125"/>
          <a:ext xmlns:a="http://schemas.openxmlformats.org/drawingml/2006/main" cx="11201400" cy="3714750"/>
        </p:xfrm>
        <a:graphic xmlns:a="http://schemas.openxmlformats.org/drawingml/2006/main">
          <a:graphicData uri="http://schemas.openxmlformats.org/drawingml/2006/table">
            <a:tbl>
              <a:tblPr/>
              <a:tblGrid>
                <a:gridCol w="2857500"/>
                <a:gridCol w="2762250"/>
                <a:gridCol w="5581650"/>
              </a:tblGrid>
              <a:tr h="619125">
                <a:tc>
                  <a:txBody>
                    <a:bodyPr/>
                    <a:lstStyle/>
                    <a:p>
                      <a:r>
                        <a:rPr sz="1800" b="1">
                          <a:solidFill>
                            <a:srgbClr val="171717"/>
                          </a:solidFill>
                        </a:rPr>
                        <a:t>State variable</a:t>
                      </a:r>
                    </a:p>
                  </a:txBody>
                  <a:tcPr marL="91440" marR="91440" marT="45720" marB="45720">
                    <a:solidFill>
                      <a:srgbClr val="EDEDED"/>
                    </a:solidFill>
                  </a:tcPr>
                </a:tc>
                <a:tc>
                  <a:txBody>
                    <a:bodyPr/>
                    <a:lstStyle/>
                    <a:p>
                      <a:r>
                        <a:rPr sz="1800" b="1">
                          <a:solidFill>
                            <a:srgbClr val="171717"/>
                          </a:solidFill>
                        </a:rPr>
                        <a:t>Encoding</a:t>
                      </a:r>
                    </a:p>
                  </a:txBody>
                  <a:tcPr marL="91440" marR="91440" marT="45720" marB="45720">
                    <a:solidFill>
                      <a:srgbClr val="EDEDED"/>
                    </a:solidFill>
                  </a:tcPr>
                </a:tc>
                <a:tc>
                  <a:txBody>
                    <a:bodyPr/>
                    <a:lstStyle/>
                    <a:p>
                      <a:r>
                        <a:rPr sz="1800" b="1">
                          <a:solidFill>
                            <a:srgbClr val="171717"/>
                          </a:solidFill>
                        </a:rPr>
                        <a:t>Why it matters</a:t>
                      </a:r>
                    </a:p>
                  </a:txBody>
                  <a:tcPr marL="91440" marR="91440" marT="45720" marB="45720">
                    <a:solidFill>
                      <a:srgbClr val="EDEDED"/>
                    </a:solidFill>
                  </a:tcPr>
                </a:tc>
              </a:tr>
              <a:tr h="619125">
                <a:tc>
                  <a:txBody>
                    <a:bodyPr/>
                    <a:lstStyle/>
                    <a:p>
                      <a:r>
                        <a:rPr sz="1800" b="0">
                          <a:solidFill>
                            <a:srgbClr val="171717"/>
                          </a:solidFill>
                        </a:rPr>
                        <a:t>Arrival rate</a:t>
                      </a:r>
                    </a:p>
                  </a:txBody>
                  <a:tcPr marL="91440" marR="91440" marT="45720" marB="45720">
                    <a:solidFill>
                      <a:srgbClr val="FFFFFF"/>
                    </a:solidFill>
                  </a:tcPr>
                </a:tc>
                <a:tc>
                  <a:txBody>
                    <a:bodyPr/>
                    <a:lstStyle/>
                    <a:p>
                      <a:r>
                        <a:rPr sz="1800" b="0">
                          <a:solidFill>
                            <a:srgbClr val="171717"/>
                          </a:solidFill>
                        </a:rPr>
                        <a:t>Low / medium / high</a:t>
                      </a:r>
                    </a:p>
                  </a:txBody>
                  <a:tcPr marL="91440" marR="91440" marT="45720" marB="45720">
                    <a:solidFill>
                      <a:srgbClr val="FFFFFF"/>
                    </a:solidFill>
                  </a:tcPr>
                </a:tc>
                <a:tc>
                  <a:txBody>
                    <a:bodyPr/>
                    <a:lstStyle/>
                    <a:p>
                      <a:r>
                        <a:rPr sz="1800" b="0">
                          <a:solidFill>
                            <a:srgbClr val="171717"/>
                          </a:solidFill>
                        </a:rPr>
                        <a:t>Current demand</a:t>
                      </a:r>
                    </a:p>
                  </a:txBody>
                  <a:tcPr marL="91440" marR="91440" marT="45720" marB="45720">
                    <a:solidFill>
                      <a:srgbClr val="FFFFFF"/>
                    </a:solidFill>
                  </a:tcPr>
                </a:tc>
              </a:tr>
              <a:tr h="619125">
                <a:tc>
                  <a:txBody>
                    <a:bodyPr/>
                    <a:lstStyle/>
                    <a:p>
                      <a:r>
                        <a:rPr sz="1800" b="0">
                          <a:solidFill>
                            <a:srgbClr val="171717"/>
                          </a:solidFill>
                        </a:rPr>
                        <a:t>Queue length</a:t>
                      </a:r>
                    </a:p>
                  </a:txBody>
                  <a:tcPr marL="91440" marR="91440" marT="45720" marB="45720">
                    <a:solidFill>
                      <a:srgbClr val="FFFFFF"/>
                    </a:solidFill>
                  </a:tcPr>
                </a:tc>
                <a:tc>
                  <a:txBody>
                    <a:bodyPr/>
                    <a:lstStyle/>
                    <a:p>
                      <a:r>
                        <a:rPr sz="1800" b="0">
                          <a:solidFill>
                            <a:srgbClr val="171717"/>
                          </a:solidFill>
                        </a:rPr>
                        <a:t>Empty / short / long</a:t>
                      </a:r>
                    </a:p>
                  </a:txBody>
                  <a:tcPr marL="91440" marR="91440" marT="45720" marB="45720">
                    <a:solidFill>
                      <a:srgbClr val="FFFFFF"/>
                    </a:solidFill>
                  </a:tcPr>
                </a:tc>
                <a:tc>
                  <a:txBody>
                    <a:bodyPr/>
                    <a:lstStyle/>
                    <a:p>
                      <a:r>
                        <a:rPr sz="1800" b="0">
                          <a:solidFill>
                            <a:srgbClr val="171717"/>
                          </a:solidFill>
                        </a:rPr>
                        <a:t>Unfinished work</a:t>
                      </a:r>
                    </a:p>
                  </a:txBody>
                  <a:tcPr marL="91440" marR="91440" marT="45720" marB="45720">
                    <a:solidFill>
                      <a:srgbClr val="FFFFFF"/>
                    </a:solidFill>
                  </a:tcPr>
                </a:tc>
              </a:tr>
              <a:tr h="619125">
                <a:tc>
                  <a:txBody>
                    <a:bodyPr/>
                    <a:lstStyle/>
                    <a:p>
                      <a:r>
                        <a:rPr sz="1800" b="0">
                          <a:solidFill>
                            <a:srgbClr val="171717"/>
                          </a:solidFill>
                        </a:rPr>
                        <a:t>Active instances</a:t>
                      </a:r>
                    </a:p>
                  </a:txBody>
                  <a:tcPr marL="91440" marR="91440" marT="45720" marB="45720">
                    <a:solidFill>
                      <a:srgbClr val="FFFFFF"/>
                    </a:solidFill>
                  </a:tcPr>
                </a:tc>
                <a:tc>
                  <a:txBody>
                    <a:bodyPr/>
                    <a:lstStyle/>
                    <a:p>
                      <a:r>
                        <a:rPr sz="1800" b="0">
                          <a:solidFill>
                            <a:srgbClr val="171717"/>
                          </a:solidFill>
                        </a:rPr>
                        <a:t>1–5</a:t>
                      </a:r>
                    </a:p>
                  </a:txBody>
                  <a:tcPr marL="91440" marR="91440" marT="45720" marB="45720">
                    <a:solidFill>
                      <a:srgbClr val="FFFFFF"/>
                    </a:solidFill>
                  </a:tcPr>
                </a:tc>
                <a:tc>
                  <a:txBody>
                    <a:bodyPr/>
                    <a:lstStyle/>
                    <a:p>
                      <a:r>
                        <a:rPr sz="1800" b="0">
                          <a:solidFill>
                            <a:srgbClr val="171717"/>
                          </a:solidFill>
                        </a:rPr>
                        <a:t>Available capacity and cost</a:t>
                      </a:r>
                    </a:p>
                  </a:txBody>
                  <a:tcPr marL="91440" marR="91440" marT="45720" marB="45720">
                    <a:solidFill>
                      <a:srgbClr val="FFFFFF"/>
                    </a:solidFill>
                  </a:tcPr>
                </a:tc>
              </a:tr>
              <a:tr h="619125">
                <a:tc>
                  <a:txBody>
                    <a:bodyPr/>
                    <a:lstStyle/>
                    <a:p>
                      <a:r>
                        <a:rPr sz="1800" b="0">
                          <a:solidFill>
                            <a:srgbClr val="171717"/>
                          </a:solidFill>
                        </a:rPr>
                        <a:t>Pending startup</a:t>
                      </a:r>
                    </a:p>
                  </a:txBody>
                  <a:tcPr marL="91440" marR="91440" marT="45720" marB="45720">
                    <a:solidFill>
                      <a:srgbClr val="FFFFFF"/>
                    </a:solidFill>
                  </a:tcPr>
                </a:tc>
                <a:tc>
                  <a:txBody>
                    <a:bodyPr/>
                    <a:lstStyle/>
                    <a:p>
                      <a:r>
                        <a:rPr sz="1800" b="0">
                          <a:solidFill>
                            <a:srgbClr val="171717"/>
                          </a:solidFill>
                        </a:rPr>
                        <a:t>0 / 1</a:t>
                      </a:r>
                    </a:p>
                  </a:txBody>
                  <a:tcPr marL="91440" marR="91440" marT="45720" marB="45720">
                    <a:solidFill>
                      <a:srgbClr val="FFFFFF"/>
                    </a:solidFill>
                  </a:tcPr>
                </a:tc>
                <a:tc>
                  <a:txBody>
                    <a:bodyPr/>
                    <a:lstStyle/>
                    <a:p>
                      <a:r>
                        <a:rPr sz="1800" b="0">
                          <a:solidFill>
                            <a:srgbClr val="171717"/>
                          </a:solidFill>
                        </a:rPr>
                        <a:t>Capacity arriving next step</a:t>
                      </a:r>
                    </a:p>
                  </a:txBody>
                  <a:tcPr marL="91440" marR="91440" marT="45720" marB="45720">
                    <a:solidFill>
                      <a:srgbClr val="FFFFFF"/>
                    </a:solidFill>
                  </a:tcPr>
                </a:tc>
              </a:tr>
              <a:tr h="619125">
                <a:tc>
                  <a:txBody>
                    <a:bodyPr/>
                    <a:lstStyle/>
                    <a:p>
                      <a:r>
                        <a:rPr sz="1800" b="0">
                          <a:solidFill>
                            <a:srgbClr val="171717"/>
                          </a:solidFill>
                        </a:rPr>
                        <a:t>Demand trend</a:t>
                      </a:r>
                    </a:p>
                  </a:txBody>
                  <a:tcPr marL="91440" marR="91440" marT="45720" marB="45720">
                    <a:solidFill>
                      <a:srgbClr val="FFFFFF"/>
                    </a:solidFill>
                  </a:tcPr>
                </a:tc>
                <a:tc>
                  <a:txBody>
                    <a:bodyPr/>
                    <a:lstStyle/>
                    <a:p>
                      <a:r>
                        <a:rPr sz="1800" b="0">
                          <a:solidFill>
                            <a:srgbClr val="171717"/>
                          </a:solidFill>
                        </a:rPr>
                        <a:t>Falling / flat / rising</a:t>
                      </a:r>
                    </a:p>
                  </a:txBody>
                  <a:tcPr marL="91440" marR="91440" marT="45720" marB="45720">
                    <a:solidFill>
                      <a:srgbClr val="FFFFFF"/>
                    </a:solidFill>
                  </a:tcPr>
                </a:tc>
                <a:tc>
                  <a:txBody>
                    <a:bodyPr/>
                    <a:lstStyle/>
                    <a:p>
                      <a:r>
                        <a:rPr sz="1800" b="0">
                          <a:solidFill>
                            <a:srgbClr val="171717"/>
                          </a:solidFill>
                        </a:rPr>
                        <a:t>Recent workload direction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215941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DDD38E0-7A8C-4C69-866B-20056997E3BE}"/>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Three actions, with explicit limits</a:t>
            </a:r>
          </a:p>
        </p:txBody>
      </p:sp>
      <p:sp>
        <p:nvSpPr>
          <p:cNvPr id="2" name="">
            <a:extLst xmlns:a="http://schemas.openxmlformats.org/drawingml/2006/main">
              <a:ext uri="{FF2B5EF4-FFF2-40B4-BE49-F238E27FC236}">
                <a16:creationId xmlns:a16="http://schemas.microsoft.com/office/drawing/2014/main" id="{681A0DD3-3FD9-400A-9F29-1F7FAF18F4FA}"/>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034FECAC-47CB-4CD9-950A-C33F60E3F3FF}"/>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07</a:t>
            </a:r>
          </a:p>
        </p:txBody>
      </p:sp>
      <p:graphicFrame>
        <p:nvGraphicFramePr>
          <p:cNvPr id="9" name=""/>
          <p:cNvGraphicFramePr/>
          <p:nvPr/>
        </p:nvGraphicFramePr>
        <p:xfrm>
          <a:off xmlns:a="http://schemas.openxmlformats.org/drawingml/2006/main" x="495300" y="2143125"/>
          <a:ext xmlns:a="http://schemas.openxmlformats.org/drawingml/2006/main" cx="11201400" cy="2190750"/>
        </p:xfrm>
        <a:graphic xmlns:a="http://schemas.openxmlformats.org/drawingml/2006/main">
          <a:graphicData uri="http://schemas.openxmlformats.org/drawingml/2006/table">
            <a:tbl>
              <a:tblPr/>
              <a:tblGrid>
                <a:gridCol w="2619375"/>
                <a:gridCol w="4191000"/>
                <a:gridCol w="4391025"/>
              </a:tblGrid>
              <a:tr h="547688">
                <a:tc>
                  <a:txBody>
                    <a:bodyPr/>
                    <a:lstStyle/>
                    <a:p>
                      <a:r>
                        <a:rPr sz="1800" b="1">
                          <a:solidFill>
                            <a:srgbClr val="171717"/>
                          </a:solidFill>
                        </a:rPr>
                        <a:t>Action</a:t>
                      </a:r>
                    </a:p>
                  </a:txBody>
                  <a:tcPr marL="91440" marR="91440" marT="45720" marB="45720">
                    <a:solidFill>
                      <a:srgbClr val="EDEDED"/>
                    </a:solidFill>
                  </a:tcPr>
                </a:tc>
                <a:tc>
                  <a:txBody>
                    <a:bodyPr/>
                    <a:lstStyle/>
                    <a:p>
                      <a:r>
                        <a:rPr sz="1800" b="1">
                          <a:solidFill>
                            <a:srgbClr val="171717"/>
                          </a:solidFill>
                        </a:rPr>
                        <a:t>Effect</a:t>
                      </a:r>
                    </a:p>
                  </a:txBody>
                  <a:tcPr marL="91440" marR="91440" marT="45720" marB="45720">
                    <a:solidFill>
                      <a:srgbClr val="EDEDED"/>
                    </a:solidFill>
                  </a:tcPr>
                </a:tc>
                <a:tc>
                  <a:txBody>
                    <a:bodyPr/>
                    <a:lstStyle/>
                    <a:p>
                      <a:r>
                        <a:rPr sz="1800" b="1">
                          <a:solidFill>
                            <a:srgbClr val="171717"/>
                          </a:solidFill>
                        </a:rPr>
                        <a:t>Constraint</a:t>
                      </a:r>
                    </a:p>
                  </a:txBody>
                  <a:tcPr marL="91440" marR="91440" marT="45720" marB="45720">
                    <a:solidFill>
                      <a:srgbClr val="EDEDED"/>
                    </a:solidFill>
                  </a:tcPr>
                </a:tc>
              </a:tr>
              <a:tr h="547688">
                <a:tc>
                  <a:txBody>
                    <a:bodyPr/>
                    <a:lstStyle/>
                    <a:p>
                      <a:r>
                        <a:rPr sz="1800" b="0">
                          <a:solidFill>
                            <a:srgbClr val="171717"/>
                          </a:solidFill>
                        </a:rPr>
                        <a:t>Scale out (+1)</a:t>
                      </a:r>
                    </a:p>
                  </a:txBody>
                  <a:tcPr marL="91440" marR="91440" marT="45720" marB="45720">
                    <a:solidFill>
                      <a:srgbClr val="FFFFFF"/>
                    </a:solidFill>
                  </a:tcPr>
                </a:tc>
                <a:tc>
                  <a:txBody>
                    <a:bodyPr/>
                    <a:lstStyle/>
                    <a:p>
                      <a:r>
                        <a:rPr sz="1800" b="0">
                          <a:solidFill>
                            <a:srgbClr val="171717"/>
                          </a:solidFill>
                        </a:rPr>
                        <a:t>Request one new instance</a:t>
                      </a:r>
                    </a:p>
                  </a:txBody>
                  <a:tcPr marL="91440" marR="91440" marT="45720" marB="45720">
                    <a:solidFill>
                      <a:srgbClr val="FFFFFF"/>
                    </a:solidFill>
                  </a:tcPr>
                </a:tc>
                <a:tc>
                  <a:txBody>
                    <a:bodyPr/>
                    <a:lstStyle/>
                    <a:p>
                      <a:r>
                        <a:rPr sz="1800" b="0">
                          <a:solidFill>
                            <a:srgbClr val="171717"/>
                          </a:solidFill>
                        </a:rPr>
                        <a:t>Active + pending &lt; 5</a:t>
                      </a:r>
                    </a:p>
                  </a:txBody>
                  <a:tcPr marL="91440" marR="91440" marT="45720" marB="45720">
                    <a:solidFill>
                      <a:srgbClr val="FFFFFF"/>
                    </a:solidFill>
                  </a:tcPr>
                </a:tc>
              </a:tr>
              <a:tr h="547688">
                <a:tc>
                  <a:txBody>
                    <a:bodyPr/>
                    <a:lstStyle/>
                    <a:p>
                      <a:r>
                        <a:rPr sz="1800" b="0">
                          <a:solidFill>
                            <a:srgbClr val="171717"/>
                          </a:solidFill>
                        </a:rPr>
                        <a:t>Hold (0)</a:t>
                      </a:r>
                    </a:p>
                  </a:txBody>
                  <a:tcPr marL="91440" marR="91440" marT="45720" marB="45720">
                    <a:solidFill>
                      <a:srgbClr val="FFFFFF"/>
                    </a:solidFill>
                  </a:tcPr>
                </a:tc>
                <a:tc>
                  <a:txBody>
                    <a:bodyPr/>
                    <a:lstStyle/>
                    <a:p>
                      <a:r>
                        <a:rPr sz="1800" b="0">
                          <a:solidFill>
                            <a:srgbClr val="171717"/>
                          </a:solidFill>
                        </a:rPr>
                        <a:t>Retain current allocation</a:t>
                      </a:r>
                    </a:p>
                  </a:txBody>
                  <a:tcPr marL="91440" marR="91440" marT="45720" marB="45720">
                    <a:solidFill>
                      <a:srgbClr val="FFFFFF"/>
                    </a:solidFill>
                  </a:tcPr>
                </a:tc>
                <a:tc>
                  <a:txBody>
                    <a:bodyPr/>
                    <a:lstStyle/>
                    <a:p>
                      <a:r>
                        <a:rPr sz="1800" b="0">
                          <a:solidFill>
                            <a:srgbClr val="171717"/>
                          </a:solidFill>
                        </a:rPr>
                        <a:t>Always valid</a:t>
                      </a:r>
                    </a:p>
                  </a:txBody>
                  <a:tcPr marL="91440" marR="91440" marT="45720" marB="45720">
                    <a:solidFill>
                      <a:srgbClr val="FFFFFF"/>
                    </a:solidFill>
                  </a:tcPr>
                </a:tc>
              </a:tr>
              <a:tr h="547688">
                <a:tc>
                  <a:txBody>
                    <a:bodyPr/>
                    <a:lstStyle/>
                    <a:p>
                      <a:r>
                        <a:rPr sz="1800" b="0">
                          <a:solidFill>
                            <a:srgbClr val="171717"/>
                          </a:solidFill>
                        </a:rPr>
                        <a:t>Scale in (−1)</a:t>
                      </a:r>
                    </a:p>
                  </a:txBody>
                  <a:tcPr marL="91440" marR="91440" marT="45720" marB="45720">
                    <a:solidFill>
                      <a:srgbClr val="FFFFFF"/>
                    </a:solidFill>
                  </a:tcPr>
                </a:tc>
                <a:tc>
                  <a:txBody>
                    <a:bodyPr/>
                    <a:lstStyle/>
                    <a:p>
                      <a:r>
                        <a:rPr sz="1800" b="0">
                          <a:solidFill>
                            <a:srgbClr val="171717"/>
                          </a:solidFill>
                        </a:rPr>
                        <a:t>Remove one idle instance</a:t>
                      </a:r>
                    </a:p>
                  </a:txBody>
                  <a:tcPr marL="91440" marR="91440" marT="45720" marB="45720">
                    <a:solidFill>
                      <a:srgbClr val="FFFFFF"/>
                    </a:solidFill>
                  </a:tcPr>
                </a:tc>
                <a:tc>
                  <a:txBody>
                    <a:bodyPr/>
                    <a:lstStyle/>
                    <a:p>
                      <a:r>
                        <a:rPr sz="1800" b="0">
                          <a:solidFill>
                            <a:srgbClr val="171717"/>
                          </a:solidFill>
                        </a:rPr>
                        <a:t>Active &gt; 1; idle instance available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655DF2-C5E9-4634-AC1D-2B9C13304436}"/>
              </a:ext>
            </a:extLst>
          </p:cNvPr>
          <p:cNvSpPr>
            <a:spLocks xmlns:a="http://schemas.openxmlformats.org/drawingml/2006/main" noGrp="1"/>
          </p:cNvSpPr>
          <p:nvPr/>
        </p:nvSpPr>
        <p:spPr>
          <a:xfrm xmlns:a="http://schemas.openxmlformats.org/drawingml/2006/main">
            <a:off x="495300" y="4791075"/>
            <a:ext cx="11201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175" b="0">
                <a:solidFill>
                  <a:srgbClr val="171717"/>
                </a:solidFill>
              </a:defRPr>
            </a:pPr>
            <a:r>
              <a:rPr sz="2175" b="0">
                <a:solidFill>
                  <a:srgbClr val="171717"/>
                </a:solidFill>
              </a:rPr>
              <a:t>While startup is pending, allow only hold.</a:t>
            </a:r>
          </a:p>
          <a:p xmlns:a="http://schemas.openxmlformats.org/drawingml/2006/main">
            <a:pPr>
              <a:defRPr sz="2175" b="0">
                <a:solidFill>
                  <a:srgbClr val="171717"/>
                </a:solidFill>
              </a:defRPr>
            </a:pPr>
            <a:r>
              <a:rPr sz="2175" b="0">
                <a:solidFill>
                  <a:srgbClr val="171717"/>
                </a:solidFill>
              </a:rPr>
              <a:t>Apply the same valid-action rules to every algorithm.</a:t>
            </a:r>
          </a:p>
        </p:txBody>
      </p:sp>
    </p:spTree>
    <p:extLst>
      <p:ext uri="{BB962C8B-B14F-4D97-AF65-F5344CB8AC3E}">
        <p14:creationId xmlns:p14="http://schemas.microsoft.com/office/powerpoint/2010/main" val="2081549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11CF17-108B-4A74-95CF-B10FEB92168C}"/>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Reward balances service and expense</a:t>
            </a:r>
          </a:p>
        </p:txBody>
      </p:sp>
      <p:sp>
        <p:nvSpPr>
          <p:cNvPr id="2" name="">
            <a:extLst xmlns:a="http://schemas.openxmlformats.org/drawingml/2006/main">
              <a:ext uri="{FF2B5EF4-FFF2-40B4-BE49-F238E27FC236}">
                <a16:creationId xmlns:a16="http://schemas.microsoft.com/office/drawing/2014/main" id="{FFBFDF63-DBB1-438D-BD58-1C3D352E0022}"/>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01641140-592E-476B-B426-5A9D1DCE694E}"/>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08</a:t>
            </a:r>
          </a:p>
        </p:txBody>
      </p:sp>
      <p:sp>
        <p:nvSpPr>
          <p:cNvPr id="4" name="">
            <a:extLst xmlns:a="http://schemas.openxmlformats.org/drawingml/2006/main">
              <a:ext uri="{FF2B5EF4-FFF2-40B4-BE49-F238E27FC236}">
                <a16:creationId xmlns:a16="http://schemas.microsoft.com/office/drawing/2014/main" id="{11869F86-55C6-4DC4-9966-5F93500953C5}"/>
              </a:ext>
            </a:extLst>
          </p:cNvPr>
          <p:cNvSpPr>
            <a:spLocks xmlns:a="http://schemas.openxmlformats.org/drawingml/2006/main" noGrp="1"/>
          </p:cNvSpPr>
          <p:nvPr/>
        </p:nvSpPr>
        <p:spPr>
          <a:xfrm xmlns:a="http://schemas.openxmlformats.org/drawingml/2006/main">
            <a:off x="495300" y="1743075"/>
            <a:ext cx="11201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900" b="1">
                <a:solidFill>
                  <a:srgbClr val="1765C1"/>
                </a:solidFill>
              </a:defRPr>
            </a:pPr>
            <a:r>
              <a:rPr sz="3900" b="1">
                <a:solidFill>
                  <a:srgbClr val="1765C1"/>
                </a:solidFill>
              </a:rPr>
              <a:t>r = 2g − c − 4v − q − 0.2m</a:t>
            </a:r>
          </a:p>
        </p:txBody>
      </p:sp>
      <p:graphicFrame>
        <p:nvGraphicFramePr>
          <p:cNvPr id="10" name=""/>
          <p:cNvGraphicFramePr/>
          <p:nvPr/>
        </p:nvGraphicFramePr>
        <p:xfrm>
          <a:off xmlns:a="http://schemas.openxmlformats.org/drawingml/2006/main" x="495300" y="2838450"/>
          <a:ext xmlns:a="http://schemas.openxmlformats.org/drawingml/2006/main" cx="11201400" cy="2857500"/>
        </p:xfrm>
        <a:graphic xmlns:a="http://schemas.openxmlformats.org/drawingml/2006/main">
          <a:graphicData uri="http://schemas.openxmlformats.org/drawingml/2006/table">
            <a:tbl>
              <a:tblPr/>
              <a:tblGrid>
                <a:gridCol w="2333625"/>
                <a:gridCol w="8867775"/>
              </a:tblGrid>
              <a:tr h="571500">
                <a:tc>
                  <a:txBody>
                    <a:bodyPr/>
                    <a:lstStyle/>
                    <a:p>
                      <a:r>
                        <a:rPr sz="1800" b="1">
                          <a:solidFill>
                            <a:srgbClr val="171717"/>
                          </a:solidFill>
                        </a:rPr>
                        <a:t>Term</a:t>
                      </a:r>
                    </a:p>
                  </a:txBody>
                  <a:tcPr marL="91440" marR="91440" marT="45720" marB="45720">
                    <a:solidFill>
                      <a:srgbClr val="EDEDED"/>
                    </a:solidFill>
                  </a:tcPr>
                </a:tc>
                <a:tc>
                  <a:txBody>
                    <a:bodyPr/>
                    <a:lstStyle/>
                    <a:p>
                      <a:r>
                        <a:rPr sz="1800" b="1">
                          <a:solidFill>
                            <a:srgbClr val="171717"/>
                          </a:solidFill>
                        </a:rPr>
                        <a:t>Meaning (per interval)</a:t>
                      </a:r>
                    </a:p>
                  </a:txBody>
                  <a:tcPr marL="91440" marR="91440" marT="45720" marB="45720">
                    <a:solidFill>
                      <a:srgbClr val="EDEDED"/>
                    </a:solidFill>
                  </a:tcPr>
                </a:tc>
              </a:tr>
              <a:tr h="571500">
                <a:tc>
                  <a:txBody>
                    <a:bodyPr/>
                    <a:lstStyle/>
                    <a:p>
                      <a:r>
                        <a:rPr sz="1800" b="0">
                          <a:solidFill>
                            <a:srgbClr val="171717"/>
                          </a:solidFill>
                        </a:rPr>
                        <a:t>+2g</a:t>
                      </a:r>
                    </a:p>
                  </a:txBody>
                  <a:tcPr marL="91440" marR="91440" marT="45720" marB="45720">
                    <a:solidFill>
                      <a:srgbClr val="FFFFFF"/>
                    </a:solidFill>
                  </a:tcPr>
                </a:tc>
                <a:tc>
                  <a:txBody>
                    <a:bodyPr/>
                    <a:lstStyle/>
                    <a:p>
                      <a:r>
                        <a:rPr sz="1800" b="0">
                          <a:solidFill>
                            <a:srgbClr val="171717"/>
                          </a:solidFill>
                        </a:rPr>
                        <a:t>Reward fraction of resolved requests meeting 200 ms</a:t>
                      </a:r>
                    </a:p>
                  </a:txBody>
                  <a:tcPr marL="91440" marR="91440" marT="45720" marB="45720">
                    <a:solidFill>
                      <a:srgbClr val="FFFFFF"/>
                    </a:solidFill>
                  </a:tcPr>
                </a:tc>
              </a:tr>
              <a:tr h="571500">
                <a:tc>
                  <a:txBody>
                    <a:bodyPr/>
                    <a:lstStyle/>
                    <a:p>
                      <a:r>
                        <a:rPr sz="1800" b="0">
                          <a:solidFill>
                            <a:srgbClr val="171717"/>
                          </a:solidFill>
                        </a:rPr>
                        <a:t>−c</a:t>
                      </a:r>
                    </a:p>
                  </a:txBody>
                  <a:tcPr marL="91440" marR="91440" marT="45720" marB="45720">
                    <a:solidFill>
                      <a:srgbClr val="FFFFFF"/>
                    </a:solidFill>
                  </a:tcPr>
                </a:tc>
                <a:tc>
                  <a:txBody>
                    <a:bodyPr/>
                    <a:lstStyle/>
                    <a:p>
                      <a:r>
                        <a:rPr sz="1800" b="0">
                          <a:solidFill>
                            <a:srgbClr val="171717"/>
                          </a:solidFill>
                        </a:rPr>
                        <a:t>Penalize normalized billed instance cost</a:t>
                      </a:r>
                    </a:p>
                  </a:txBody>
                  <a:tcPr marL="91440" marR="91440" marT="45720" marB="45720">
                    <a:solidFill>
                      <a:srgbClr val="FFFFFF"/>
                    </a:solidFill>
                  </a:tcPr>
                </a:tc>
              </a:tr>
              <a:tr h="571500">
                <a:tc>
                  <a:txBody>
                    <a:bodyPr/>
                    <a:lstStyle/>
                    <a:p>
                      <a:r>
                        <a:rPr sz="1800" b="0">
                          <a:solidFill>
                            <a:srgbClr val="171717"/>
                          </a:solidFill>
                        </a:rPr>
                        <a:t>−4v</a:t>
                      </a:r>
                    </a:p>
                  </a:txBody>
                  <a:tcPr marL="91440" marR="91440" marT="45720" marB="45720">
                    <a:solidFill>
                      <a:srgbClr val="FFFFFF"/>
                    </a:solidFill>
                  </a:tcPr>
                </a:tc>
                <a:tc>
                  <a:txBody>
                    <a:bodyPr/>
                    <a:lstStyle/>
                    <a:p>
                      <a:r>
                        <a:rPr sz="1800" b="0">
                          <a:solidFill>
                            <a:srgbClr val="171717"/>
                          </a:solidFill>
                        </a:rPr>
                        <a:t>Penalize late or timed-out resolved requests</a:t>
                      </a:r>
                    </a:p>
                  </a:txBody>
                  <a:tcPr marL="91440" marR="91440" marT="45720" marB="45720">
                    <a:solidFill>
                      <a:srgbClr val="FFFFFF"/>
                    </a:solidFill>
                  </a:tcPr>
                </a:tc>
              </a:tr>
              <a:tr h="571500">
                <a:tc>
                  <a:txBody>
                    <a:bodyPr/>
                    <a:lstStyle/>
                    <a:p>
                      <a:r>
                        <a:rPr sz="1800" b="0">
                          <a:solidFill>
                            <a:srgbClr val="171717"/>
                          </a:solidFill>
                        </a:rPr>
                        <a:t>−q − 0.2m</a:t>
                      </a:r>
                    </a:p>
                  </a:txBody>
                  <a:tcPr marL="91440" marR="91440" marT="45720" marB="45720">
                    <a:solidFill>
                      <a:srgbClr val="FFFFFF"/>
                    </a:solidFill>
                  </a:tcPr>
                </a:tc>
                <a:tc>
                  <a:txBody>
                    <a:bodyPr/>
                    <a:lstStyle/>
                    <a:p>
                      <a:r>
                        <a:rPr sz="1800" b="0">
                          <a:solidFill>
                            <a:srgbClr val="171717"/>
                          </a:solidFill>
                        </a:rPr>
                        <a:t>Penalize normalized backlog and scaling changes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87806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5C7875D-AFD3-4A87-A765-BEB4A1A36CD4}"/>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The task is continuing and stochastic</a:t>
            </a:r>
          </a:p>
        </p:txBody>
      </p:sp>
      <p:sp>
        <p:nvSpPr>
          <p:cNvPr id="2" name="">
            <a:extLst xmlns:a="http://schemas.openxmlformats.org/drawingml/2006/main">
              <a:ext uri="{FF2B5EF4-FFF2-40B4-BE49-F238E27FC236}">
                <a16:creationId xmlns:a16="http://schemas.microsoft.com/office/drawing/2014/main" id="{6E8FCBB0-120C-4076-B21B-0601CDC83ED8}"/>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E97C245B-9BC2-4213-9607-819B8EF0808E}"/>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09</a:t>
            </a:r>
          </a:p>
        </p:txBody>
      </p:sp>
      <p:graphicFrame>
        <p:nvGraphicFramePr>
          <p:cNvPr id="8" name=""/>
          <p:cNvGraphicFramePr/>
          <p:nvPr/>
        </p:nvGraphicFramePr>
        <p:xfrm>
          <a:off xmlns:a="http://schemas.openxmlformats.org/drawingml/2006/main" x="495300" y="1809750"/>
          <a:ext xmlns:a="http://schemas.openxmlformats.org/drawingml/2006/main" cx="11201400" cy="4095750"/>
        </p:xfrm>
        <a:graphic xmlns:a="http://schemas.openxmlformats.org/drawingml/2006/main">
          <a:graphicData uri="http://schemas.openxmlformats.org/drawingml/2006/table">
            <a:tbl>
              <a:tblPr/>
              <a:tblGrid>
                <a:gridCol w="2714625"/>
                <a:gridCol w="8486775"/>
              </a:tblGrid>
              <a:tr h="585107">
                <a:tc>
                  <a:txBody>
                    <a:bodyPr/>
                    <a:lstStyle/>
                    <a:p>
                      <a:r>
                        <a:rPr sz="1800" b="1">
                          <a:solidFill>
                            <a:srgbClr val="171717"/>
                          </a:solidFill>
                        </a:rPr>
                        <a:t>Characteristic</a:t>
                      </a:r>
                    </a:p>
                  </a:txBody>
                  <a:tcPr marL="91440" marR="91440" marT="45720" marB="45720">
                    <a:solidFill>
                      <a:srgbClr val="EDEDED"/>
                    </a:solidFill>
                  </a:tcPr>
                </a:tc>
                <a:tc>
                  <a:txBody>
                    <a:bodyPr/>
                    <a:lstStyle/>
                    <a:p>
                      <a:r>
                        <a:rPr sz="1800" b="1">
                          <a:solidFill>
                            <a:srgbClr val="171717"/>
                          </a:solidFill>
                        </a:rPr>
                        <a:t>Classification and reason</a:t>
                      </a:r>
                    </a:p>
                  </a:txBody>
                  <a:tcPr marL="91440" marR="91440" marT="45720" marB="45720">
                    <a:solidFill>
                      <a:srgbClr val="EDEDED"/>
                    </a:solidFill>
                  </a:tcPr>
                </a:tc>
              </a:tr>
              <a:tr h="585107">
                <a:tc>
                  <a:txBody>
                    <a:bodyPr/>
                    <a:lstStyle/>
                    <a:p>
                      <a:r>
                        <a:rPr sz="1800" b="0">
                          <a:solidFill>
                            <a:srgbClr val="171717"/>
                          </a:solidFill>
                        </a:rPr>
                        <a:t>Horizon</a:t>
                      </a:r>
                    </a:p>
                  </a:txBody>
                  <a:tcPr marL="91440" marR="91440" marT="45720" marB="45720">
                    <a:solidFill>
                      <a:srgbClr val="FFFFFF"/>
                    </a:solidFill>
                  </a:tcPr>
                </a:tc>
                <a:tc>
                  <a:txBody>
                    <a:bodyPr/>
                    <a:lstStyle/>
                    <a:p>
                      <a:r>
                        <a:rPr sz="1800" b="0">
                          <a:solidFill>
                            <a:srgbClr val="171717"/>
                          </a:solidFill>
                        </a:rPr>
                        <a:t>Continuing task; finite training windows</a:t>
                      </a:r>
                    </a:p>
                  </a:txBody>
                  <a:tcPr marL="91440" marR="91440" marT="45720" marB="45720">
                    <a:solidFill>
                      <a:srgbClr val="FFFFFF"/>
                    </a:solidFill>
                  </a:tcPr>
                </a:tc>
              </a:tr>
              <a:tr h="585107">
                <a:tc>
                  <a:txBody>
                    <a:bodyPr/>
                    <a:lstStyle/>
                    <a:p>
                      <a:r>
                        <a:rPr sz="1800" b="0">
                          <a:solidFill>
                            <a:srgbClr val="171717"/>
                          </a:solidFill>
                        </a:rPr>
                        <a:t>Environment</a:t>
                      </a:r>
                    </a:p>
                  </a:txBody>
                  <a:tcPr marL="91440" marR="91440" marT="45720" marB="45720">
                    <a:solidFill>
                      <a:srgbClr val="FFFFFF"/>
                    </a:solidFill>
                  </a:tcPr>
                </a:tc>
                <a:tc>
                  <a:txBody>
                    <a:bodyPr/>
                    <a:lstStyle/>
                    <a:p>
                      <a:r>
                        <a:rPr sz="1800" b="0">
                          <a:solidFill>
                            <a:srgbClr val="171717"/>
                          </a:solidFill>
                        </a:rPr>
                        <a:t>Dynamic: load and queues change over time</a:t>
                      </a:r>
                    </a:p>
                  </a:txBody>
                  <a:tcPr marL="91440" marR="91440" marT="45720" marB="45720">
                    <a:solidFill>
                      <a:srgbClr val="FFFFFF"/>
                    </a:solidFill>
                  </a:tcPr>
                </a:tc>
              </a:tr>
              <a:tr h="585107">
                <a:tc>
                  <a:txBody>
                    <a:bodyPr/>
                    <a:lstStyle/>
                    <a:p>
                      <a:r>
                        <a:rPr sz="1800" b="0">
                          <a:solidFill>
                            <a:srgbClr val="171717"/>
                          </a:solidFill>
                        </a:rPr>
                        <a:t>Transitions</a:t>
                      </a:r>
                    </a:p>
                  </a:txBody>
                  <a:tcPr marL="91440" marR="91440" marT="45720" marB="45720">
                    <a:solidFill>
                      <a:srgbClr val="FFFFFF"/>
                    </a:solidFill>
                  </a:tcPr>
                </a:tc>
                <a:tc>
                  <a:txBody>
                    <a:bodyPr/>
                    <a:lstStyle/>
                    <a:p>
                      <a:r>
                        <a:rPr sz="1800" b="0">
                          <a:solidFill>
                            <a:srgbClr val="171717"/>
                          </a:solidFill>
                        </a:rPr>
                        <a:t>Stochastic: arrivals and service times vary</a:t>
                      </a:r>
                    </a:p>
                  </a:txBody>
                  <a:tcPr marL="91440" marR="91440" marT="45720" marB="45720">
                    <a:solidFill>
                      <a:srgbClr val="FFFFFF"/>
                    </a:solidFill>
                  </a:tcPr>
                </a:tc>
              </a:tr>
              <a:tr h="585107">
                <a:tc>
                  <a:txBody>
                    <a:bodyPr/>
                    <a:lstStyle/>
                    <a:p>
                      <a:r>
                        <a:rPr sz="1800" b="0">
                          <a:solidFill>
                            <a:srgbClr val="171717"/>
                          </a:solidFill>
                        </a:rPr>
                        <a:t>Observability</a:t>
                      </a:r>
                    </a:p>
                  </a:txBody>
                  <a:tcPr marL="91440" marR="91440" marT="45720" marB="45720">
                    <a:solidFill>
                      <a:srgbClr val="FFFFFF"/>
                    </a:solidFill>
                  </a:tcPr>
                </a:tc>
                <a:tc>
                  <a:txBody>
                    <a:bodyPr/>
                    <a:lstStyle/>
                    <a:p>
                      <a:r>
                        <a:rPr sz="1800" b="0">
                          <a:solidFill>
                            <a:srgbClr val="171717"/>
                          </a:solidFill>
                        </a:rPr>
                        <a:t>Partial: workload regime and exact queue detail are hidden</a:t>
                      </a:r>
                    </a:p>
                  </a:txBody>
                  <a:tcPr marL="91440" marR="91440" marT="45720" marB="45720">
                    <a:solidFill>
                      <a:srgbClr val="FFFFFF"/>
                    </a:solidFill>
                  </a:tcPr>
                </a:tc>
              </a:tr>
              <a:tr h="585107">
                <a:tc>
                  <a:txBody>
                    <a:bodyPr/>
                    <a:lstStyle/>
                    <a:p>
                      <a:r>
                        <a:rPr sz="1800" b="0">
                          <a:solidFill>
                            <a:srgbClr val="171717"/>
                          </a:solidFill>
                        </a:rPr>
                        <a:t>Spaces</a:t>
                      </a:r>
                    </a:p>
                  </a:txBody>
                  <a:tcPr marL="91440" marR="91440" marT="45720" marB="45720">
                    <a:solidFill>
                      <a:srgbClr val="FFFFFF"/>
                    </a:solidFill>
                  </a:tcPr>
                </a:tc>
                <a:tc>
                  <a:txBody>
                    <a:bodyPr/>
                    <a:lstStyle/>
                    <a:p>
                      <a:r>
                        <a:rPr sz="1800" b="0">
                          <a:solidFill>
                            <a:srgbClr val="171717"/>
                          </a:solidFill>
                        </a:rPr>
                        <a:t>Discrete binned state; three discrete actions</a:t>
                      </a:r>
                    </a:p>
                  </a:txBody>
                  <a:tcPr marL="91440" marR="91440" marT="45720" marB="45720">
                    <a:solidFill>
                      <a:srgbClr val="FFFFFF"/>
                    </a:solidFill>
                  </a:tcPr>
                </a:tc>
              </a:tr>
              <a:tr h="585107">
                <a:tc>
                  <a:txBody>
                    <a:bodyPr/>
                    <a:lstStyle/>
                    <a:p>
                      <a:r>
                        <a:rPr sz="1800" b="0">
                          <a:solidFill>
                            <a:srgbClr val="171717"/>
                          </a:solidFill>
                        </a:rPr>
                        <a:t>Learning</a:t>
                      </a:r>
                    </a:p>
                  </a:txBody>
                  <a:tcPr marL="91440" marR="91440" marT="45720" marB="45720">
                    <a:solidFill>
                      <a:srgbClr val="FFFFFF"/>
                    </a:solidFill>
                  </a:tcPr>
                </a:tc>
                <a:tc>
                  <a:txBody>
                    <a:bodyPr/>
                    <a:lstStyle/>
                    <a:p>
                      <a:r>
                        <a:rPr sz="1800" b="0">
                          <a:solidFill>
                            <a:srgbClr val="171717"/>
                          </a:solidFill>
                        </a:rPr>
                        <a:t>Simulation-based training; frozen-policy evaluation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948619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E203A9-3A62-4410-8EB2-573A45347AF5}"/>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Q-learning is a practical first algorithm</a:t>
            </a:r>
          </a:p>
        </p:txBody>
      </p:sp>
      <p:sp>
        <p:nvSpPr>
          <p:cNvPr id="2" name="">
            <a:extLst xmlns:a="http://schemas.openxmlformats.org/drawingml/2006/main">
              <a:ext uri="{FF2B5EF4-FFF2-40B4-BE49-F238E27FC236}">
                <a16:creationId xmlns:a16="http://schemas.microsoft.com/office/drawing/2014/main" id="{0DD6E82A-EA03-427D-9EAB-162A1330EA1F}"/>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2FEF4A73-0C8B-405D-B33B-D754A738D305}"/>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10</a:t>
            </a:r>
          </a:p>
        </p:txBody>
      </p:sp>
      <p:sp>
        <p:nvSpPr>
          <p:cNvPr id="4" name="">
            <a:extLst xmlns:a="http://schemas.openxmlformats.org/drawingml/2006/main">
              <a:ext uri="{FF2B5EF4-FFF2-40B4-BE49-F238E27FC236}">
                <a16:creationId xmlns:a16="http://schemas.microsoft.com/office/drawing/2014/main" id="{778DCA19-49BB-497B-B2BB-57C47FA34919}"/>
              </a:ext>
            </a:extLst>
          </p:cNvPr>
          <p:cNvSpPr>
            <a:spLocks xmlns:a="http://schemas.openxmlformats.org/drawingml/2006/main" noGrp="1"/>
          </p:cNvSpPr>
          <p:nvPr/>
        </p:nvSpPr>
        <p:spPr>
          <a:xfrm xmlns:a="http://schemas.openxmlformats.org/drawingml/2006/main">
            <a:off x="495300" y="19716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Why it fits</a:t>
            </a:r>
          </a:p>
        </p:txBody>
      </p:sp>
      <p:sp>
        <p:nvSpPr>
          <p:cNvPr id="5" name="">
            <a:extLst xmlns:a="http://schemas.openxmlformats.org/drawingml/2006/main">
              <a:ext uri="{FF2B5EF4-FFF2-40B4-BE49-F238E27FC236}">
                <a16:creationId xmlns:a16="http://schemas.microsoft.com/office/drawing/2014/main" id="{497733EE-4986-47E2-A435-694A7A6A234A}"/>
              </a:ext>
            </a:extLst>
          </p:cNvPr>
          <p:cNvSpPr>
            <a:spLocks xmlns:a="http://schemas.openxmlformats.org/drawingml/2006/main" noGrp="1"/>
          </p:cNvSpPr>
          <p:nvPr/>
        </p:nvSpPr>
        <p:spPr>
          <a:xfrm xmlns:a="http://schemas.openxmlformats.org/drawingml/2006/main">
            <a:off x="495300" y="2638425"/>
            <a:ext cx="5191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270 nominal states × 3 actions.</a:t>
            </a:r>
          </a:p>
          <a:p xmlns:a="http://schemas.openxmlformats.org/drawingml/2006/main">
            <a:r>
              <a:t/>
            </a:r>
          </a:p>
          <a:p xmlns:a="http://schemas.openxmlformats.org/drawingml/2006/main">
            <a:pPr>
              <a:defRPr sz="2250" b="0">
                <a:solidFill>
                  <a:srgbClr val="171717"/>
                </a:solidFill>
              </a:defRPr>
            </a:pPr>
            <a:r>
              <a:rPr sz="2250" b="0">
                <a:solidFill>
                  <a:srgbClr val="171717"/>
                </a:solidFill>
              </a:rPr>
              <a:t>A small, inspectable Q-table.</a:t>
            </a:r>
          </a:p>
          <a:p xmlns:a="http://schemas.openxmlformats.org/drawingml/2006/main">
            <a:r>
              <a:t/>
            </a:r>
          </a:p>
          <a:p xmlns:a="http://schemas.openxmlformats.org/drawingml/2006/main">
            <a:pPr>
              <a:defRPr sz="2250" b="0">
                <a:solidFill>
                  <a:srgbClr val="171717"/>
                </a:solidFill>
              </a:defRPr>
            </a:pPr>
            <a:r>
              <a:rPr sz="2250" b="0">
                <a:solidFill>
                  <a:srgbClr val="171717"/>
                </a:solidFill>
              </a:rPr>
              <a:t>No transition model is required.</a:t>
            </a:r>
          </a:p>
        </p:txBody>
      </p:sp>
      <p:sp>
        <p:nvSpPr>
          <p:cNvPr id="6" name="">
            <a:extLst xmlns:a="http://schemas.openxmlformats.org/drawingml/2006/main">
              <a:ext uri="{FF2B5EF4-FFF2-40B4-BE49-F238E27FC236}">
                <a16:creationId xmlns:a16="http://schemas.microsoft.com/office/drawing/2014/main" id="{86906918-FE3E-422E-839C-2D1A1F4FC66E}"/>
              </a:ext>
            </a:extLst>
          </p:cNvPr>
          <p:cNvSpPr>
            <a:spLocks xmlns:a="http://schemas.openxmlformats.org/drawingml/2006/main" noGrp="1"/>
          </p:cNvSpPr>
          <p:nvPr/>
        </p:nvSpPr>
        <p:spPr>
          <a:xfrm xmlns:a="http://schemas.openxmlformats.org/drawingml/2006/main">
            <a:off x="6343650" y="1971675"/>
            <a:ext cx="535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How it learns</a:t>
            </a:r>
          </a:p>
        </p:txBody>
      </p:sp>
      <p:sp>
        <p:nvSpPr>
          <p:cNvPr id="7" name="">
            <a:extLst xmlns:a="http://schemas.openxmlformats.org/drawingml/2006/main">
              <a:ext uri="{FF2B5EF4-FFF2-40B4-BE49-F238E27FC236}">
                <a16:creationId xmlns:a16="http://schemas.microsoft.com/office/drawing/2014/main" id="{BB65E319-EC7F-4FFE-93E6-D26BA1011025}"/>
              </a:ext>
            </a:extLst>
          </p:cNvPr>
          <p:cNvSpPr>
            <a:spLocks xmlns:a="http://schemas.openxmlformats.org/drawingml/2006/main" noGrp="1"/>
          </p:cNvSpPr>
          <p:nvPr/>
        </p:nvSpPr>
        <p:spPr>
          <a:xfrm xmlns:a="http://schemas.openxmlformats.org/drawingml/2006/main">
            <a:off x="6343650" y="2638425"/>
            <a:ext cx="53530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Explore valid actions with ε-greedy selection.</a:t>
            </a:r>
          </a:p>
          <a:p xmlns:a="http://schemas.openxmlformats.org/drawingml/2006/main">
            <a:r>
              <a:t/>
            </a:r>
          </a:p>
          <a:p xmlns:a="http://schemas.openxmlformats.org/drawingml/2006/main">
            <a:pPr>
              <a:defRPr sz="2250" b="0">
                <a:solidFill>
                  <a:srgbClr val="171717"/>
                </a:solidFill>
              </a:defRPr>
            </a:pPr>
            <a:r>
              <a:rPr sz="2250" b="0">
                <a:solidFill>
                  <a:srgbClr val="171717"/>
                </a:solidFill>
              </a:rPr>
              <a:t>Update values from reward and next state.</a:t>
            </a:r>
          </a:p>
          <a:p xmlns:a="http://schemas.openxmlformats.org/drawingml/2006/main">
            <a:r>
              <a:t/>
            </a:r>
          </a:p>
          <a:p xmlns:a="http://schemas.openxmlformats.org/drawingml/2006/main">
            <a:pPr>
              <a:defRPr sz="2250" b="0">
                <a:solidFill>
                  <a:srgbClr val="171717"/>
                </a:solidFill>
              </a:defRPr>
            </a:pPr>
            <a:r>
              <a:rPr sz="2250" b="0">
                <a:solidFill>
                  <a:srgbClr val="171717"/>
                </a:solidFill>
              </a:rPr>
              <a:t>Gradually reduce exploration.</a:t>
            </a:r>
          </a:p>
        </p:txBody>
      </p:sp>
    </p:spTree>
    <p:extLst>
      <p:ext uri="{BB962C8B-B14F-4D97-AF65-F5344CB8AC3E}">
        <p14:creationId xmlns:p14="http://schemas.microsoft.com/office/powerpoint/2010/main" val="3842072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7EC539-4663-49EC-BF11-7E21017CA0C6}"/>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Each transition updates an action value</a:t>
            </a:r>
          </a:p>
        </p:txBody>
      </p:sp>
      <p:sp>
        <p:nvSpPr>
          <p:cNvPr id="2" name="">
            <a:extLst xmlns:a="http://schemas.openxmlformats.org/drawingml/2006/main">
              <a:ext uri="{FF2B5EF4-FFF2-40B4-BE49-F238E27FC236}">
                <a16:creationId xmlns:a16="http://schemas.microsoft.com/office/drawing/2014/main" id="{5D748F31-2C5B-494D-A1C0-71751163AA5B}"/>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CF4BAB34-AF2C-422F-B077-0E8B0D8DCF8A}"/>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11</a:t>
            </a:r>
          </a:p>
        </p:txBody>
      </p:sp>
      <p:sp>
        <p:nvSpPr>
          <p:cNvPr id="4" name="">
            <a:extLst xmlns:a="http://schemas.openxmlformats.org/drawingml/2006/main">
              <a:ext uri="{FF2B5EF4-FFF2-40B4-BE49-F238E27FC236}">
                <a16:creationId xmlns:a16="http://schemas.microsoft.com/office/drawing/2014/main" id="{161B0C95-EB4A-4B99-868B-11C2A5B3FF9E}"/>
              </a:ext>
            </a:extLst>
          </p:cNvPr>
          <p:cNvSpPr>
            <a:spLocks xmlns:a="http://schemas.openxmlformats.org/drawingml/2006/main" noGrp="1"/>
          </p:cNvSpPr>
          <p:nvPr/>
        </p:nvSpPr>
        <p:spPr>
          <a:xfrm xmlns:a="http://schemas.openxmlformats.org/drawingml/2006/main">
            <a:off x="495300" y="1866900"/>
            <a:ext cx="11201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850" b="1">
                <a:solidFill>
                  <a:srgbClr val="1765C1"/>
                </a:solidFill>
              </a:defRPr>
            </a:pPr>
            <a:r>
              <a:rPr sz="2850" b="1">
                <a:solidFill>
                  <a:srgbClr val="1765C1"/>
                </a:solidFill>
              </a:rPr>
              <a:t>Q(s,a) ← Q(s,a) + α [r + γ max Q(s′,a′) − Q(s,a)]</a:t>
            </a:r>
          </a:p>
        </p:txBody>
      </p:sp>
      <p:sp>
        <p:nvSpPr>
          <p:cNvPr id="5" name="">
            <a:extLst xmlns:a="http://schemas.openxmlformats.org/drawingml/2006/main">
              <a:ext uri="{FF2B5EF4-FFF2-40B4-BE49-F238E27FC236}">
                <a16:creationId xmlns:a16="http://schemas.microsoft.com/office/drawing/2014/main" id="{E12B2B4C-2510-4E7D-AF1E-D04CE7389893}"/>
              </a:ext>
            </a:extLst>
          </p:cNvPr>
          <p:cNvSpPr>
            <a:spLocks xmlns:a="http://schemas.openxmlformats.org/drawingml/2006/main" noGrp="1"/>
          </p:cNvSpPr>
          <p:nvPr/>
        </p:nvSpPr>
        <p:spPr>
          <a:xfrm xmlns:a="http://schemas.openxmlformats.org/drawingml/2006/main">
            <a:off x="495300" y="2971800"/>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Immediate feedback</a:t>
            </a:r>
          </a:p>
        </p:txBody>
      </p:sp>
      <p:sp>
        <p:nvSpPr>
          <p:cNvPr id="6" name="">
            <a:extLst xmlns:a="http://schemas.openxmlformats.org/drawingml/2006/main">
              <a:ext uri="{FF2B5EF4-FFF2-40B4-BE49-F238E27FC236}">
                <a16:creationId xmlns:a16="http://schemas.microsoft.com/office/drawing/2014/main" id="{E684CE3B-20FA-4FC8-9BA7-F88C447250AC}"/>
              </a:ext>
            </a:extLst>
          </p:cNvPr>
          <p:cNvSpPr>
            <a:spLocks xmlns:a="http://schemas.openxmlformats.org/drawingml/2006/main" noGrp="1"/>
          </p:cNvSpPr>
          <p:nvPr/>
        </p:nvSpPr>
        <p:spPr>
          <a:xfrm xmlns:a="http://schemas.openxmlformats.org/drawingml/2006/main">
            <a:off x="495300" y="3638550"/>
            <a:ext cx="51911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r measures service quality, cost, backlog and scaling.</a:t>
            </a:r>
          </a:p>
          <a:p xmlns:a="http://schemas.openxmlformats.org/drawingml/2006/main">
            <a:r>
              <a:t/>
            </a:r>
          </a:p>
          <a:p xmlns:a="http://schemas.openxmlformats.org/drawingml/2006/main">
            <a:pPr>
              <a:defRPr sz="2250" b="0">
                <a:solidFill>
                  <a:srgbClr val="171717"/>
                </a:solidFill>
              </a:defRPr>
            </a:pPr>
            <a:r>
              <a:rPr sz="2250" b="0">
                <a:solidFill>
                  <a:srgbClr val="171717"/>
                </a:solidFill>
              </a:rPr>
              <a:t>α controls the update size.</a:t>
            </a:r>
          </a:p>
        </p:txBody>
      </p:sp>
      <p:sp>
        <p:nvSpPr>
          <p:cNvPr id="7" name="">
            <a:extLst xmlns:a="http://schemas.openxmlformats.org/drawingml/2006/main">
              <a:ext uri="{FF2B5EF4-FFF2-40B4-BE49-F238E27FC236}">
                <a16:creationId xmlns:a16="http://schemas.microsoft.com/office/drawing/2014/main" id="{F5728C3E-F7BE-49EF-9E2C-5119CB270F68}"/>
              </a:ext>
            </a:extLst>
          </p:cNvPr>
          <p:cNvSpPr>
            <a:spLocks xmlns:a="http://schemas.openxmlformats.org/drawingml/2006/main" noGrp="1"/>
          </p:cNvSpPr>
          <p:nvPr/>
        </p:nvSpPr>
        <p:spPr>
          <a:xfrm xmlns:a="http://schemas.openxmlformats.org/drawingml/2006/main">
            <a:off x="6343650" y="2971800"/>
            <a:ext cx="535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Future value</a:t>
            </a:r>
          </a:p>
        </p:txBody>
      </p:sp>
      <p:sp>
        <p:nvSpPr>
          <p:cNvPr id="8" name="">
            <a:extLst xmlns:a="http://schemas.openxmlformats.org/drawingml/2006/main">
              <a:ext uri="{FF2B5EF4-FFF2-40B4-BE49-F238E27FC236}">
                <a16:creationId xmlns:a16="http://schemas.microsoft.com/office/drawing/2014/main" id="{DC4C2C9C-05F4-4274-84F1-1DB8DE297FCA}"/>
              </a:ext>
            </a:extLst>
          </p:cNvPr>
          <p:cNvSpPr>
            <a:spLocks xmlns:a="http://schemas.openxmlformats.org/drawingml/2006/main" noGrp="1"/>
          </p:cNvSpPr>
          <p:nvPr/>
        </p:nvSpPr>
        <p:spPr>
          <a:xfrm xmlns:a="http://schemas.openxmlformats.org/drawingml/2006/main">
            <a:off x="6343650" y="3638550"/>
            <a:ext cx="53530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γ discounts later rewards.</a:t>
            </a:r>
          </a:p>
          <a:p xmlns:a="http://schemas.openxmlformats.org/drawingml/2006/main">
            <a:r>
              <a:t/>
            </a:r>
          </a:p>
          <a:p xmlns:a="http://schemas.openxmlformats.org/drawingml/2006/main">
            <a:pPr>
              <a:defRPr sz="2250" b="0">
                <a:solidFill>
                  <a:srgbClr val="171717"/>
                </a:solidFill>
              </a:defRPr>
            </a:pPr>
            <a:r>
              <a:rPr sz="2250" b="0">
                <a:solidFill>
                  <a:srgbClr val="171717"/>
                </a:solidFill>
              </a:rPr>
              <a:t>max Q(s′,a′) considers valid actions in the next state.</a:t>
            </a:r>
          </a:p>
        </p:txBody>
      </p:sp>
    </p:spTree>
    <p:extLst>
      <p:ext uri="{BB962C8B-B14F-4D97-AF65-F5344CB8AC3E}">
        <p14:creationId xmlns:p14="http://schemas.microsoft.com/office/powerpoint/2010/main" val="246388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0CD839-B644-47BF-9946-82B37C3E3339}"/>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The controller closes the learning loop</a:t>
            </a:r>
          </a:p>
        </p:txBody>
      </p:sp>
      <p:sp>
        <p:nvSpPr>
          <p:cNvPr id="2" name="">
            <a:extLst xmlns:a="http://schemas.openxmlformats.org/drawingml/2006/main">
              <a:ext uri="{FF2B5EF4-FFF2-40B4-BE49-F238E27FC236}">
                <a16:creationId xmlns:a16="http://schemas.microsoft.com/office/drawing/2014/main" id="{08CFD27F-A3C0-4C09-9778-EC957F97B3B9}"/>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334B7ACE-1323-4CA3-9157-7EC2AFD5EF60}"/>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12</a:t>
            </a:r>
          </a:p>
        </p:txBody>
      </p:sp>
      <p:graphicFrame>
        <p:nvGraphicFramePr>
          <p:cNvPr id="8" name=""/>
          <p:cNvGraphicFramePr/>
          <p:nvPr/>
        </p:nvGraphicFramePr>
        <p:xfrm>
          <a:off xmlns:a="http://schemas.openxmlformats.org/drawingml/2006/main" x="495300" y="2057400"/>
          <a:ext xmlns:a="http://schemas.openxmlformats.org/drawingml/2006/main" cx="11201400" cy="3429000"/>
        </p:xfrm>
        <a:graphic xmlns:a="http://schemas.openxmlformats.org/drawingml/2006/main">
          <a:graphicData uri="http://schemas.openxmlformats.org/drawingml/2006/table">
            <a:tbl>
              <a:tblPr/>
              <a:tblGrid>
                <a:gridCol w="4000500"/>
                <a:gridCol w="7200900"/>
              </a:tblGrid>
              <a:tr h="685800">
                <a:tc>
                  <a:txBody>
                    <a:bodyPr/>
                    <a:lstStyle/>
                    <a:p>
                      <a:r>
                        <a:rPr sz="1800" b="1">
                          <a:solidFill>
                            <a:srgbClr val="171717"/>
                          </a:solidFill>
                        </a:rPr>
                        <a:t>Step</a:t>
                      </a:r>
                    </a:p>
                  </a:txBody>
                  <a:tcPr marL="91440" marR="91440" marT="45720" marB="45720">
                    <a:solidFill>
                      <a:srgbClr val="EDEDED"/>
                    </a:solidFill>
                  </a:tcPr>
                </a:tc>
                <a:tc>
                  <a:txBody>
                    <a:bodyPr/>
                    <a:lstStyle/>
                    <a:p>
                      <a:r>
                        <a:rPr sz="1800" b="1">
                          <a:solidFill>
                            <a:srgbClr val="171717"/>
                          </a:solidFill>
                        </a:rPr>
                        <a:t>What happens</a:t>
                      </a:r>
                    </a:p>
                  </a:txBody>
                  <a:tcPr marL="91440" marR="91440" marT="45720" marB="45720">
                    <a:solidFill>
                      <a:srgbClr val="EDEDED"/>
                    </a:solidFill>
                  </a:tcPr>
                </a:tc>
              </a:tr>
              <a:tr h="685800">
                <a:tc>
                  <a:txBody>
                    <a:bodyPr/>
                    <a:lstStyle/>
                    <a:p>
                      <a:r>
                        <a:rPr sz="1800" b="0">
                          <a:solidFill>
                            <a:srgbClr val="171717"/>
                          </a:solidFill>
                        </a:rPr>
                        <a:t>1  Environment → state</a:t>
                      </a:r>
                    </a:p>
                  </a:txBody>
                  <a:tcPr marL="91440" marR="91440" marT="45720" marB="45720">
                    <a:solidFill>
                      <a:srgbClr val="FFFFFF"/>
                    </a:solidFill>
                  </a:tcPr>
                </a:tc>
                <a:tc>
                  <a:txBody>
                    <a:bodyPr/>
                    <a:lstStyle/>
                    <a:p>
                      <a:r>
                        <a:rPr sz="1800" b="0">
                          <a:solidFill>
                            <a:srgbClr val="171717"/>
                          </a:solidFill>
                        </a:rPr>
                        <a:t>Measure arrivals, queue, capacity, startup and trend</a:t>
                      </a:r>
                    </a:p>
                  </a:txBody>
                  <a:tcPr marL="91440" marR="91440" marT="45720" marB="45720">
                    <a:solidFill>
                      <a:srgbClr val="FFFFFF"/>
                    </a:solidFill>
                  </a:tcPr>
                </a:tc>
              </a:tr>
              <a:tr h="685800">
                <a:tc>
                  <a:txBody>
                    <a:bodyPr/>
                    <a:lstStyle/>
                    <a:p>
                      <a:r>
                        <a:rPr sz="1800" b="0">
                          <a:solidFill>
                            <a:srgbClr val="171717"/>
                          </a:solidFill>
                        </a:rPr>
                        <a:t>2  State → agent → action</a:t>
                      </a:r>
                    </a:p>
                  </a:txBody>
                  <a:tcPr marL="91440" marR="91440" marT="45720" marB="45720">
                    <a:solidFill>
                      <a:srgbClr val="FFFFFF"/>
                    </a:solidFill>
                  </a:tcPr>
                </a:tc>
                <a:tc>
                  <a:txBody>
                    <a:bodyPr/>
                    <a:lstStyle/>
                    <a:p>
                      <a:r>
                        <a:rPr sz="1800" b="0">
                          <a:solidFill>
                            <a:srgbClr val="171717"/>
                          </a:solidFill>
                        </a:rPr>
                        <a:t>Use Q-table; select a valid scale / hold action</a:t>
                      </a:r>
                    </a:p>
                  </a:txBody>
                  <a:tcPr marL="91440" marR="91440" marT="45720" marB="45720">
                    <a:solidFill>
                      <a:srgbClr val="FFFFFF"/>
                    </a:solidFill>
                  </a:tcPr>
                </a:tc>
              </a:tr>
              <a:tr h="685800">
                <a:tc>
                  <a:txBody>
                    <a:bodyPr/>
                    <a:lstStyle/>
                    <a:p>
                      <a:r>
                        <a:rPr sz="1800" b="0">
                          <a:solidFill>
                            <a:srgbClr val="171717"/>
                          </a:solidFill>
                        </a:rPr>
                        <a:t>3  Action → environment</a:t>
                      </a:r>
                    </a:p>
                  </a:txBody>
                  <a:tcPr marL="91440" marR="91440" marT="45720" marB="45720">
                    <a:solidFill>
                      <a:srgbClr val="FFFFFF"/>
                    </a:solidFill>
                  </a:tcPr>
                </a:tc>
                <a:tc>
                  <a:txBody>
                    <a:bodyPr/>
                    <a:lstStyle/>
                    <a:p>
                      <a:r>
                        <a:rPr sz="1800" b="0">
                          <a:solidFill>
                            <a:srgbClr val="171717"/>
                          </a:solidFill>
                        </a:rPr>
                        <a:t>Apply allocation; process the next interval</a:t>
                      </a:r>
                    </a:p>
                  </a:txBody>
                  <a:tcPr marL="91440" marR="91440" marT="45720" marB="45720">
                    <a:solidFill>
                      <a:srgbClr val="FFFFFF"/>
                    </a:solidFill>
                  </a:tcPr>
                </a:tc>
              </a:tr>
              <a:tr h="685800">
                <a:tc>
                  <a:txBody>
                    <a:bodyPr/>
                    <a:lstStyle/>
                    <a:p>
                      <a:r>
                        <a:rPr sz="1800" b="0">
                          <a:solidFill>
                            <a:srgbClr val="171717"/>
                          </a:solidFill>
                        </a:rPr>
                        <a:t>4  Reward + next state → learning</a:t>
                      </a:r>
                    </a:p>
                  </a:txBody>
                  <a:tcPr marL="91440" marR="91440" marT="45720" marB="45720">
                    <a:solidFill>
                      <a:srgbClr val="FFFFFF"/>
                    </a:solidFill>
                  </a:tcPr>
                </a:tc>
                <a:tc>
                  <a:txBody>
                    <a:bodyPr/>
                    <a:lstStyle/>
                    <a:p>
                      <a:r>
                        <a:rPr sz="1800" b="0">
                          <a:solidFill>
                            <a:srgbClr val="171717"/>
                          </a:solidFill>
                        </a:rPr>
                        <a:t>Score outcomes, update Q(s,a), repeat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442558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93BE22-352A-4A8E-A6EC-68D413011911}"/>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A traffic burst reveals delayed effects</a:t>
            </a:r>
          </a:p>
        </p:txBody>
      </p:sp>
      <p:sp>
        <p:nvSpPr>
          <p:cNvPr id="2" name="">
            <a:extLst xmlns:a="http://schemas.openxmlformats.org/drawingml/2006/main">
              <a:ext uri="{FF2B5EF4-FFF2-40B4-BE49-F238E27FC236}">
                <a16:creationId xmlns:a16="http://schemas.microsoft.com/office/drawing/2014/main" id="{E7C01ADF-EF8A-4032-95E8-8273672D6038}"/>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85B4D2A0-908B-4050-B6FD-5031DCB7EB7C}"/>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13</a:t>
            </a:r>
          </a:p>
        </p:txBody>
      </p:sp>
      <p:sp>
        <p:nvSpPr>
          <p:cNvPr id="4" name="">
            <a:extLst xmlns:a="http://schemas.openxmlformats.org/drawingml/2006/main">
              <a:ext uri="{FF2B5EF4-FFF2-40B4-BE49-F238E27FC236}">
                <a16:creationId xmlns:a16="http://schemas.microsoft.com/office/drawing/2014/main" id="{C4995C33-F42B-4C54-9335-167E5BA14860}"/>
              </a:ext>
            </a:extLst>
          </p:cNvPr>
          <p:cNvSpPr>
            <a:spLocks xmlns:a="http://schemas.openxmlformats.org/drawingml/2006/main" noGrp="1"/>
          </p:cNvSpPr>
          <p:nvPr/>
        </p:nvSpPr>
        <p:spPr>
          <a:xfrm xmlns:a="http://schemas.openxmlformats.org/drawingml/2006/main">
            <a:off x="495300" y="1504950"/>
            <a:ext cx="11201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100" b="0">
                <a:solidFill>
                  <a:srgbClr val="555555"/>
                </a:solidFill>
              </a:defRPr>
            </a:pPr>
            <a:r>
              <a:rPr sz="2100" b="0">
                <a:solidFill>
                  <a:srgbClr val="555555"/>
                </a:solidFill>
              </a:rPr>
              <a:t>Illustrative capacity: 100 requests/second per instance</a:t>
            </a:r>
          </a:p>
        </p:txBody>
      </p:sp>
      <p:graphicFrame>
        <p:nvGraphicFramePr>
          <p:cNvPr id="11" name=""/>
          <p:cNvGraphicFramePr/>
          <p:nvPr/>
        </p:nvGraphicFramePr>
        <p:xfrm>
          <a:off xmlns:a="http://schemas.openxmlformats.org/drawingml/2006/main" x="495300" y="2305050"/>
          <a:ext xmlns:a="http://schemas.openxmlformats.org/drawingml/2006/main" cx="11201400" cy="2619375"/>
        </p:xfrm>
        <a:graphic xmlns:a="http://schemas.openxmlformats.org/drawingml/2006/main">
          <a:graphicData uri="http://schemas.openxmlformats.org/drawingml/2006/table">
            <a:tbl>
              <a:tblPr/>
              <a:tblGrid>
                <a:gridCol w="2476500"/>
                <a:gridCol w="2286000"/>
                <a:gridCol w="3333750"/>
                <a:gridCol w="3105150"/>
              </a:tblGrid>
              <a:tr h="654844">
                <a:tc>
                  <a:txBody>
                    <a:bodyPr/>
                    <a:lstStyle/>
                    <a:p>
                      <a:r>
                        <a:rPr sz="1800" b="1">
                          <a:solidFill>
                            <a:srgbClr val="171717"/>
                          </a:solidFill>
                        </a:rPr>
                        <a:t>Moment</a:t>
                      </a:r>
                    </a:p>
                  </a:txBody>
                  <a:tcPr marL="91440" marR="91440" marT="45720" marB="45720">
                    <a:solidFill>
                      <a:srgbClr val="EDEDED"/>
                    </a:solidFill>
                  </a:tcPr>
                </a:tc>
                <a:tc>
                  <a:txBody>
                    <a:bodyPr/>
                    <a:lstStyle/>
                    <a:p>
                      <a:r>
                        <a:rPr sz="1800" b="1">
                          <a:solidFill>
                            <a:srgbClr val="171717"/>
                          </a:solidFill>
                        </a:rPr>
                        <a:t>Demand</a:t>
                      </a:r>
                    </a:p>
                  </a:txBody>
                  <a:tcPr marL="91440" marR="91440" marT="45720" marB="45720">
                    <a:solidFill>
                      <a:srgbClr val="EDEDED"/>
                    </a:solidFill>
                  </a:tcPr>
                </a:tc>
                <a:tc>
                  <a:txBody>
                    <a:bodyPr/>
                    <a:lstStyle/>
                    <a:p>
                      <a:r>
                        <a:rPr sz="1800" b="1">
                          <a:solidFill>
                            <a:srgbClr val="171717"/>
                          </a:solidFill>
                        </a:rPr>
                        <a:t>Active capacity</a:t>
                      </a:r>
                    </a:p>
                  </a:txBody>
                  <a:tcPr marL="91440" marR="91440" marT="45720" marB="45720">
                    <a:solidFill>
                      <a:srgbClr val="EDEDED"/>
                    </a:solidFill>
                  </a:tcPr>
                </a:tc>
                <a:tc>
                  <a:txBody>
                    <a:bodyPr/>
                    <a:lstStyle/>
                    <a:p>
                      <a:r>
                        <a:rPr sz="1800" b="1">
                          <a:solidFill>
                            <a:srgbClr val="171717"/>
                          </a:solidFill>
                        </a:rPr>
                        <a:t>Possible decision</a:t>
                      </a:r>
                    </a:p>
                  </a:txBody>
                  <a:tcPr marL="91440" marR="91440" marT="45720" marB="45720">
                    <a:solidFill>
                      <a:srgbClr val="EDEDED"/>
                    </a:solidFill>
                  </a:tcPr>
                </a:tc>
              </a:tr>
              <a:tr h="654844">
                <a:tc>
                  <a:txBody>
                    <a:bodyPr/>
                    <a:lstStyle/>
                    <a:p>
                      <a:r>
                        <a:rPr sz="1800" b="0">
                          <a:solidFill>
                            <a:srgbClr val="171717"/>
                          </a:solidFill>
                        </a:rPr>
                        <a:t>Before burst</a:t>
                      </a:r>
                    </a:p>
                  </a:txBody>
                  <a:tcPr marL="91440" marR="91440" marT="45720" marB="45720">
                    <a:solidFill>
                      <a:srgbClr val="FFFFFF"/>
                    </a:solidFill>
                  </a:tcPr>
                </a:tc>
                <a:tc>
                  <a:txBody>
                    <a:bodyPr/>
                    <a:lstStyle/>
                    <a:p>
                      <a:r>
                        <a:rPr sz="1800" b="0">
                          <a:solidFill>
                            <a:srgbClr val="171717"/>
                          </a:solidFill>
                        </a:rPr>
                        <a:t>120 req/s</a:t>
                      </a:r>
                    </a:p>
                  </a:txBody>
                  <a:tcPr marL="91440" marR="91440" marT="45720" marB="45720">
                    <a:solidFill>
                      <a:srgbClr val="FFFFFF"/>
                    </a:solidFill>
                  </a:tcPr>
                </a:tc>
                <a:tc>
                  <a:txBody>
                    <a:bodyPr/>
                    <a:lstStyle/>
                    <a:p>
                      <a:r>
                        <a:rPr sz="1800" b="0">
                          <a:solidFill>
                            <a:srgbClr val="171717"/>
                          </a:solidFill>
                        </a:rPr>
                        <a:t>2 × 100 = 200 req/s</a:t>
                      </a:r>
                    </a:p>
                  </a:txBody>
                  <a:tcPr marL="91440" marR="91440" marT="45720" marB="45720">
                    <a:solidFill>
                      <a:srgbClr val="FFFFFF"/>
                    </a:solidFill>
                  </a:tcPr>
                </a:tc>
                <a:tc>
                  <a:txBody>
                    <a:bodyPr/>
                    <a:lstStyle/>
                    <a:p>
                      <a:r>
                        <a:rPr sz="1800" b="0">
                          <a:solidFill>
                            <a:srgbClr val="171717"/>
                          </a:solidFill>
                        </a:rPr>
                        <a:t>Hold</a:t>
                      </a:r>
                    </a:p>
                  </a:txBody>
                  <a:tcPr marL="91440" marR="91440" marT="45720" marB="45720">
                    <a:solidFill>
                      <a:srgbClr val="FFFFFF"/>
                    </a:solidFill>
                  </a:tcPr>
                </a:tc>
              </a:tr>
              <a:tr h="654844">
                <a:tc>
                  <a:txBody>
                    <a:bodyPr/>
                    <a:lstStyle/>
                    <a:p>
                      <a:r>
                        <a:rPr sz="1800" b="0">
                          <a:solidFill>
                            <a:srgbClr val="171717"/>
                          </a:solidFill>
                        </a:rPr>
                        <a:t>Burst begins</a:t>
                      </a:r>
                    </a:p>
                  </a:txBody>
                  <a:tcPr marL="91440" marR="91440" marT="45720" marB="45720">
                    <a:solidFill>
                      <a:srgbClr val="FFFFFF"/>
                    </a:solidFill>
                  </a:tcPr>
                </a:tc>
                <a:tc>
                  <a:txBody>
                    <a:bodyPr/>
                    <a:lstStyle/>
                    <a:p>
                      <a:r>
                        <a:rPr sz="1800" b="0">
                          <a:solidFill>
                            <a:srgbClr val="171717"/>
                          </a:solidFill>
                        </a:rPr>
                        <a:t>240 req/s</a:t>
                      </a:r>
                    </a:p>
                  </a:txBody>
                  <a:tcPr marL="91440" marR="91440" marT="45720" marB="45720">
                    <a:solidFill>
                      <a:srgbClr val="FFFFFF"/>
                    </a:solidFill>
                  </a:tcPr>
                </a:tc>
                <a:tc>
                  <a:txBody>
                    <a:bodyPr/>
                    <a:lstStyle/>
                    <a:p>
                      <a:r>
                        <a:rPr sz="1800" b="0">
                          <a:solidFill>
                            <a:srgbClr val="171717"/>
                          </a:solidFill>
                        </a:rPr>
                        <a:t>2 × 100 = 200 req/s</a:t>
                      </a:r>
                    </a:p>
                  </a:txBody>
                  <a:tcPr marL="91440" marR="91440" marT="45720" marB="45720">
                    <a:solidFill>
                      <a:srgbClr val="FFFFFF"/>
                    </a:solidFill>
                  </a:tcPr>
                </a:tc>
                <a:tc>
                  <a:txBody>
                    <a:bodyPr/>
                    <a:lstStyle/>
                    <a:p>
                      <a:r>
                        <a:rPr sz="1800" b="0">
                          <a:solidFill>
                            <a:srgbClr val="171717"/>
                          </a:solidFill>
                        </a:rPr>
                        <a:t>Request +1</a:t>
                      </a:r>
                    </a:p>
                  </a:txBody>
                  <a:tcPr marL="91440" marR="91440" marT="45720" marB="45720">
                    <a:solidFill>
                      <a:srgbClr val="FFFFFF"/>
                    </a:solidFill>
                  </a:tcPr>
                </a:tc>
              </a:tr>
              <a:tr h="654844">
                <a:tc>
                  <a:txBody>
                    <a:bodyPr/>
                    <a:lstStyle/>
                    <a:p>
                      <a:r>
                        <a:rPr sz="1800" b="0">
                          <a:solidFill>
                            <a:srgbClr val="171717"/>
                          </a:solidFill>
                        </a:rPr>
                        <a:t>Next step</a:t>
                      </a:r>
                    </a:p>
                  </a:txBody>
                  <a:tcPr marL="91440" marR="91440" marT="45720" marB="45720">
                    <a:solidFill>
                      <a:srgbClr val="FFFFFF"/>
                    </a:solidFill>
                  </a:tcPr>
                </a:tc>
                <a:tc>
                  <a:txBody>
                    <a:bodyPr/>
                    <a:lstStyle/>
                    <a:p>
                      <a:r>
                        <a:rPr sz="1800" b="0">
                          <a:solidFill>
                            <a:srgbClr val="171717"/>
                          </a:solidFill>
                        </a:rPr>
                        <a:t>240 req/s</a:t>
                      </a:r>
                    </a:p>
                  </a:txBody>
                  <a:tcPr marL="91440" marR="91440" marT="45720" marB="45720">
                    <a:solidFill>
                      <a:srgbClr val="FFFFFF"/>
                    </a:solidFill>
                  </a:tcPr>
                </a:tc>
                <a:tc>
                  <a:txBody>
                    <a:bodyPr/>
                    <a:lstStyle/>
                    <a:p>
                      <a:r>
                        <a:rPr sz="1800" b="0">
                          <a:solidFill>
                            <a:srgbClr val="171717"/>
                          </a:solidFill>
                        </a:rPr>
                        <a:t>3 × 100 = 300 req/s</a:t>
                      </a:r>
                    </a:p>
                  </a:txBody>
                  <a:tcPr marL="91440" marR="91440" marT="45720" marB="45720">
                    <a:solidFill>
                      <a:srgbClr val="FFFFFF"/>
                    </a:solidFill>
                  </a:tcPr>
                </a:tc>
                <a:tc>
                  <a:txBody>
                    <a:bodyPr/>
                    <a:lstStyle/>
                    <a:p>
                      <a:r>
                        <a:rPr sz="1800" b="0">
                          <a:solidFill>
                            <a:srgbClr val="171717"/>
                          </a:solidFill>
                        </a:rPr>
                        <a:t>Hold; drain backlog</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1779244-A071-4205-BF63-9499C212E183}"/>
              </a:ext>
            </a:extLst>
          </p:cNvPr>
          <p:cNvSpPr>
            <a:spLocks xmlns:a="http://schemas.openxmlformats.org/drawingml/2006/main" noGrp="1"/>
          </p:cNvSpPr>
          <p:nvPr/>
        </p:nvSpPr>
        <p:spPr>
          <a:xfrm xmlns:a="http://schemas.openxmlformats.org/drawingml/2006/main">
            <a:off x="495300" y="5286375"/>
            <a:ext cx="11201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325" b="1">
                <a:solidFill>
                  <a:srgbClr val="171717"/>
                </a:solidFill>
              </a:defRPr>
            </a:pPr>
            <a:r>
              <a:rPr sz="2325" b="1">
                <a:solidFill>
                  <a:srgbClr val="171717"/>
                </a:solidFill>
              </a:rPr>
              <a:t>Scaling out helps later; it cannot erase the startup delay.</a:t>
            </a:r>
          </a:p>
        </p:txBody>
      </p:sp>
    </p:spTree>
    <p:extLst>
      <p:ext uri="{BB962C8B-B14F-4D97-AF65-F5344CB8AC3E}">
        <p14:creationId xmlns:p14="http://schemas.microsoft.com/office/powerpoint/2010/main" val="20555103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FC3DB1-337D-440C-9EFD-E9C0972A603D}"/>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Innovation: predict the next workload</a:t>
            </a:r>
          </a:p>
        </p:txBody>
      </p:sp>
      <p:sp>
        <p:nvSpPr>
          <p:cNvPr id="2" name="">
            <a:extLst xmlns:a="http://schemas.openxmlformats.org/drawingml/2006/main">
              <a:ext uri="{FF2B5EF4-FFF2-40B4-BE49-F238E27FC236}">
                <a16:creationId xmlns:a16="http://schemas.microsoft.com/office/drawing/2014/main" id="{9DB1CAA1-1449-4A3A-8908-0B7EC3A75F02}"/>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766782BB-9C1E-425D-8819-ABEE130494E9}"/>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14</a:t>
            </a:r>
          </a:p>
        </p:txBody>
      </p:sp>
      <p:sp>
        <p:nvSpPr>
          <p:cNvPr id="4" name="">
            <a:extLst xmlns:a="http://schemas.openxmlformats.org/drawingml/2006/main">
              <a:ext uri="{FF2B5EF4-FFF2-40B4-BE49-F238E27FC236}">
                <a16:creationId xmlns:a16="http://schemas.microsoft.com/office/drawing/2014/main" id="{C32A6E09-CAE5-4C67-B324-ADA645E9AECB}"/>
              </a:ext>
            </a:extLst>
          </p:cNvPr>
          <p:cNvSpPr>
            <a:spLocks xmlns:a="http://schemas.openxmlformats.org/drawingml/2006/main" noGrp="1"/>
          </p:cNvSpPr>
          <p:nvPr/>
        </p:nvSpPr>
        <p:spPr>
          <a:xfrm xmlns:a="http://schemas.openxmlformats.org/drawingml/2006/main">
            <a:off x="495300" y="19716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Forecast → decision</a:t>
            </a:r>
          </a:p>
        </p:txBody>
      </p:sp>
      <p:sp>
        <p:nvSpPr>
          <p:cNvPr id="5" name="">
            <a:extLst xmlns:a="http://schemas.openxmlformats.org/drawingml/2006/main">
              <a:ext uri="{FF2B5EF4-FFF2-40B4-BE49-F238E27FC236}">
                <a16:creationId xmlns:a16="http://schemas.microsoft.com/office/drawing/2014/main" id="{0E32D412-4FCB-413B-8BFE-50962A7C743F}"/>
              </a:ext>
            </a:extLst>
          </p:cNvPr>
          <p:cNvSpPr>
            <a:spLocks xmlns:a="http://schemas.openxmlformats.org/drawingml/2006/main" noGrp="1"/>
          </p:cNvSpPr>
          <p:nvPr/>
        </p:nvSpPr>
        <p:spPr>
          <a:xfrm xmlns:a="http://schemas.openxmlformats.org/drawingml/2006/main">
            <a:off x="495300" y="2638425"/>
            <a:ext cx="5191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Use recent request rates to forecast the next interval.</a:t>
            </a:r>
          </a:p>
          <a:p xmlns:a="http://schemas.openxmlformats.org/drawingml/2006/main">
            <a:r>
              <a:t/>
            </a:r>
          </a:p>
          <a:p xmlns:a="http://schemas.openxmlformats.org/drawingml/2006/main">
            <a:pPr>
              <a:defRPr sz="2250" b="0">
                <a:solidFill>
                  <a:srgbClr val="171717"/>
                </a:solidFill>
              </a:defRPr>
            </a:pPr>
            <a:r>
              <a:rPr sz="2250" b="0">
                <a:solidFill>
                  <a:srgbClr val="171717"/>
                </a:solidFill>
              </a:rPr>
              <a:t>Add the forecast band to the state so RL can learn earlier scale-out.</a:t>
            </a:r>
          </a:p>
        </p:txBody>
      </p:sp>
      <p:sp>
        <p:nvSpPr>
          <p:cNvPr id="6" name="">
            <a:extLst xmlns:a="http://schemas.openxmlformats.org/drawingml/2006/main">
              <a:ext uri="{FF2B5EF4-FFF2-40B4-BE49-F238E27FC236}">
                <a16:creationId xmlns:a16="http://schemas.microsoft.com/office/drawing/2014/main" id="{06C83853-20B0-4F6B-B6D2-5DD66D5ED77C}"/>
              </a:ext>
            </a:extLst>
          </p:cNvPr>
          <p:cNvSpPr>
            <a:spLocks xmlns:a="http://schemas.openxmlformats.org/drawingml/2006/main" noGrp="1"/>
          </p:cNvSpPr>
          <p:nvPr/>
        </p:nvSpPr>
        <p:spPr>
          <a:xfrm xmlns:a="http://schemas.openxmlformats.org/drawingml/2006/main">
            <a:off x="6343650" y="1971675"/>
            <a:ext cx="535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Test the added value</a:t>
            </a:r>
          </a:p>
        </p:txBody>
      </p:sp>
      <p:sp>
        <p:nvSpPr>
          <p:cNvPr id="7" name="">
            <a:extLst xmlns:a="http://schemas.openxmlformats.org/drawingml/2006/main">
              <a:ext uri="{FF2B5EF4-FFF2-40B4-BE49-F238E27FC236}">
                <a16:creationId xmlns:a16="http://schemas.microsoft.com/office/drawing/2014/main" id="{9B4B6110-DA16-459B-8B85-E6F7F12021AC}"/>
              </a:ext>
            </a:extLst>
          </p:cNvPr>
          <p:cNvSpPr>
            <a:spLocks xmlns:a="http://schemas.openxmlformats.org/drawingml/2006/main" noGrp="1"/>
          </p:cNvSpPr>
          <p:nvPr/>
        </p:nvSpPr>
        <p:spPr>
          <a:xfrm xmlns:a="http://schemas.openxmlformats.org/drawingml/2006/main">
            <a:off x="6343650" y="2638425"/>
            <a:ext cx="53530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Compare with and without forecasts.</a:t>
            </a:r>
          </a:p>
          <a:p xmlns:a="http://schemas.openxmlformats.org/drawingml/2006/main">
            <a:r>
              <a:t/>
            </a:r>
          </a:p>
          <a:p xmlns:a="http://schemas.openxmlformats.org/drawingml/2006/main">
            <a:pPr>
              <a:defRPr sz="2250" b="0">
                <a:solidFill>
                  <a:srgbClr val="171717"/>
                </a:solidFill>
              </a:defRPr>
            </a:pPr>
            <a:r>
              <a:rPr sz="2250" b="0">
                <a:solidFill>
                  <a:srgbClr val="171717"/>
                </a:solidFill>
              </a:rPr>
              <a:t>Measure missed service targets and cost on unseen bursts.</a:t>
            </a:r>
          </a:p>
          <a:p xmlns:a="http://schemas.openxmlformats.org/drawingml/2006/main">
            <a:r>
              <a:t/>
            </a:r>
          </a:p>
          <a:p xmlns:a="http://schemas.openxmlformats.org/drawingml/2006/main">
            <a:pPr>
              <a:defRPr sz="2250" b="0">
                <a:solidFill>
                  <a:srgbClr val="171717"/>
                </a:solidFill>
              </a:defRPr>
            </a:pPr>
            <a:r>
              <a:rPr sz="2250" b="0">
                <a:solidFill>
                  <a:srgbClr val="171717"/>
                </a:solidFill>
              </a:rPr>
              <a:t>Retain the same action limits.</a:t>
            </a:r>
          </a:p>
        </p:txBody>
      </p:sp>
    </p:spTree>
    <p:extLst>
      <p:ext uri="{BB962C8B-B14F-4D97-AF65-F5344CB8AC3E}">
        <p14:creationId xmlns:p14="http://schemas.microsoft.com/office/powerpoint/2010/main" val="4298643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28AB24-1158-480E-AA7A-2924D148BA24}"/>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Component 2 will test four approaches</a:t>
            </a:r>
          </a:p>
        </p:txBody>
      </p:sp>
      <p:sp>
        <p:nvSpPr>
          <p:cNvPr id="2" name="">
            <a:extLst xmlns:a="http://schemas.openxmlformats.org/drawingml/2006/main">
              <a:ext uri="{FF2B5EF4-FFF2-40B4-BE49-F238E27FC236}">
                <a16:creationId xmlns:a16="http://schemas.microsoft.com/office/drawing/2014/main" id="{0F3A7ECC-8A6B-4EA8-8171-AA99387424C4}"/>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F906A439-9AF0-4CB2-ADC2-5AF325F91E02}"/>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15</a:t>
            </a:r>
          </a:p>
        </p:txBody>
      </p:sp>
      <p:sp>
        <p:nvSpPr>
          <p:cNvPr id="4" name="">
            <a:extLst xmlns:a="http://schemas.openxmlformats.org/drawingml/2006/main">
              <a:ext uri="{FF2B5EF4-FFF2-40B4-BE49-F238E27FC236}">
                <a16:creationId xmlns:a16="http://schemas.microsoft.com/office/drawing/2014/main" id="{C238A546-9EF6-4CC3-BF11-46D4EB39C9B9}"/>
              </a:ext>
            </a:extLst>
          </p:cNvPr>
          <p:cNvSpPr>
            <a:spLocks xmlns:a="http://schemas.openxmlformats.org/drawingml/2006/main" noGrp="1"/>
          </p:cNvSpPr>
          <p:nvPr/>
        </p:nvSpPr>
        <p:spPr>
          <a:xfrm xmlns:a="http://schemas.openxmlformats.org/drawingml/2006/main">
            <a:off x="495300" y="197167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Algorithms</a:t>
            </a:r>
          </a:p>
        </p:txBody>
      </p:sp>
      <p:sp>
        <p:nvSpPr>
          <p:cNvPr id="5" name="">
            <a:extLst xmlns:a="http://schemas.openxmlformats.org/drawingml/2006/main">
              <a:ext uri="{FF2B5EF4-FFF2-40B4-BE49-F238E27FC236}">
                <a16:creationId xmlns:a16="http://schemas.microsoft.com/office/drawing/2014/main" id="{586F6656-1ADF-48BE-BC08-50B335B2D09F}"/>
              </a:ext>
            </a:extLst>
          </p:cNvPr>
          <p:cNvSpPr>
            <a:spLocks xmlns:a="http://schemas.openxmlformats.org/drawingml/2006/main" noGrp="1"/>
          </p:cNvSpPr>
          <p:nvPr/>
        </p:nvSpPr>
        <p:spPr>
          <a:xfrm xmlns:a="http://schemas.openxmlformats.org/drawingml/2006/main">
            <a:off x="495300" y="2638425"/>
            <a:ext cx="51911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Q-learning</a:t>
            </a:r>
          </a:p>
          <a:p xmlns:a="http://schemas.openxmlformats.org/drawingml/2006/main">
            <a:pPr>
              <a:defRPr sz="2250" b="0">
                <a:solidFill>
                  <a:srgbClr val="171717"/>
                </a:solidFill>
              </a:defRPr>
            </a:pPr>
            <a:r>
              <a:rPr sz="2250" b="0">
                <a:solidFill>
                  <a:srgbClr val="171717"/>
                </a:solidFill>
              </a:rPr>
              <a:t>SARSA</a:t>
            </a:r>
          </a:p>
          <a:p xmlns:a="http://schemas.openxmlformats.org/drawingml/2006/main">
            <a:pPr>
              <a:defRPr sz="2250" b="0">
                <a:solidFill>
                  <a:srgbClr val="171717"/>
                </a:solidFill>
              </a:defRPr>
            </a:pPr>
            <a:r>
              <a:rPr sz="2250" b="0">
                <a:solidFill>
                  <a:srgbClr val="171717"/>
                </a:solidFill>
              </a:rPr>
              <a:t>Expected SARSA</a:t>
            </a:r>
          </a:p>
          <a:p xmlns:a="http://schemas.openxmlformats.org/drawingml/2006/main">
            <a:pPr>
              <a:defRPr sz="2250" b="0">
                <a:solidFill>
                  <a:srgbClr val="171717"/>
                </a:solidFill>
              </a:defRPr>
            </a:pPr>
            <a:r>
              <a:rPr sz="2250" b="0">
                <a:solidFill>
                  <a:srgbClr val="171717"/>
                </a:solidFill>
              </a:rPr>
              <a:t>Dyna-Q</a:t>
            </a:r>
          </a:p>
          <a:p xmlns:a="http://schemas.openxmlformats.org/drawingml/2006/main">
            <a:r>
              <a:t/>
            </a:r>
          </a:p>
          <a:p xmlns:a="http://schemas.openxmlformats.org/drawingml/2006/main">
            <a:pPr>
              <a:defRPr sz="2250" b="0">
                <a:solidFill>
                  <a:srgbClr val="171717"/>
                </a:solidFill>
              </a:defRPr>
            </a:pPr>
            <a:r>
              <a:rPr sz="2250" b="0">
                <a:solidFill>
                  <a:srgbClr val="171717"/>
                </a:solidFill>
              </a:rPr>
              <a:t>Plus a threshold baseline.</a:t>
            </a:r>
          </a:p>
        </p:txBody>
      </p:sp>
      <p:sp>
        <p:nvSpPr>
          <p:cNvPr id="6" name="">
            <a:extLst xmlns:a="http://schemas.openxmlformats.org/drawingml/2006/main">
              <a:ext uri="{FF2B5EF4-FFF2-40B4-BE49-F238E27FC236}">
                <a16:creationId xmlns:a16="http://schemas.microsoft.com/office/drawing/2014/main" id="{F804F667-3E5B-4358-9C44-3A27107DB7D7}"/>
              </a:ext>
            </a:extLst>
          </p:cNvPr>
          <p:cNvSpPr>
            <a:spLocks xmlns:a="http://schemas.openxmlformats.org/drawingml/2006/main" noGrp="1"/>
          </p:cNvSpPr>
          <p:nvPr/>
        </p:nvSpPr>
        <p:spPr>
          <a:xfrm xmlns:a="http://schemas.openxmlformats.org/drawingml/2006/main">
            <a:off x="6343650" y="1971675"/>
            <a:ext cx="5353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75" b="1">
                <a:solidFill>
                  <a:srgbClr val="171717"/>
                </a:solidFill>
              </a:defRPr>
            </a:pPr>
            <a:r>
              <a:rPr sz="2475" b="1">
                <a:solidFill>
                  <a:srgbClr val="171717"/>
                </a:solidFill>
              </a:rPr>
              <a:t>Evaluation metrics</a:t>
            </a:r>
          </a:p>
        </p:txBody>
      </p:sp>
      <p:sp>
        <p:nvSpPr>
          <p:cNvPr id="7" name="">
            <a:extLst xmlns:a="http://schemas.openxmlformats.org/drawingml/2006/main">
              <a:ext uri="{FF2B5EF4-FFF2-40B4-BE49-F238E27FC236}">
                <a16:creationId xmlns:a16="http://schemas.microsoft.com/office/drawing/2014/main" id="{35A0A122-C067-4CD0-8FE0-B9C9E6735D29}"/>
              </a:ext>
            </a:extLst>
          </p:cNvPr>
          <p:cNvSpPr>
            <a:spLocks xmlns:a="http://schemas.openxmlformats.org/drawingml/2006/main" noGrp="1"/>
          </p:cNvSpPr>
          <p:nvPr/>
        </p:nvSpPr>
        <p:spPr>
          <a:xfrm xmlns:a="http://schemas.openxmlformats.org/drawingml/2006/main">
            <a:off x="6343650" y="2638425"/>
            <a:ext cx="53530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defRPr>
            </a:pPr>
            <a:r>
              <a:rPr sz="2250" b="0">
                <a:solidFill>
                  <a:srgbClr val="171717"/>
                </a:solidFill>
              </a:rPr>
              <a:t>Mean reward per step</a:t>
            </a:r>
          </a:p>
          <a:p xmlns:a="http://schemas.openxmlformats.org/drawingml/2006/main">
            <a:pPr>
              <a:defRPr sz="2250" b="0">
                <a:solidFill>
                  <a:srgbClr val="171717"/>
                </a:solidFill>
              </a:defRPr>
            </a:pPr>
            <a:r>
              <a:rPr sz="2250" b="0">
                <a:solidFill>
                  <a:srgbClr val="171717"/>
                </a:solidFill>
              </a:rPr>
              <a:t>Total billed instance-seconds</a:t>
            </a:r>
          </a:p>
          <a:p xmlns:a="http://schemas.openxmlformats.org/drawingml/2006/main">
            <a:pPr>
              <a:defRPr sz="2250" b="0">
                <a:solidFill>
                  <a:srgbClr val="171717"/>
                </a:solidFill>
              </a:defRPr>
            </a:pPr>
            <a:r>
              <a:rPr sz="2250" b="0">
                <a:solidFill>
                  <a:srgbClr val="171717"/>
                </a:solidFill>
              </a:rPr>
              <a:t>Late / timed-out request fraction</a:t>
            </a:r>
          </a:p>
          <a:p xmlns:a="http://schemas.openxmlformats.org/drawingml/2006/main">
            <a:pPr>
              <a:defRPr sz="2250" b="0">
                <a:solidFill>
                  <a:srgbClr val="171717"/>
                </a:solidFill>
              </a:defRPr>
            </a:pPr>
            <a:r>
              <a:rPr sz="2250" b="0">
                <a:solidFill>
                  <a:srgbClr val="171717"/>
                </a:solidFill>
              </a:rPr>
              <a:t>95th-percentile response time</a:t>
            </a:r>
          </a:p>
          <a:p xmlns:a="http://schemas.openxmlformats.org/drawingml/2006/main">
            <a:r>
              <a:t/>
            </a:r>
          </a:p>
          <a:p xmlns:a="http://schemas.openxmlformats.org/drawingml/2006/main">
            <a:pPr>
              <a:defRPr sz="2250" b="0">
                <a:solidFill>
                  <a:srgbClr val="171717"/>
                </a:solidFill>
              </a:defRPr>
            </a:pPr>
            <a:r>
              <a:rPr sz="2250" b="0">
                <a:solidFill>
                  <a:srgbClr val="171717"/>
                </a:solidFill>
              </a:rPr>
              <a:t>Track training time and variance.</a:t>
            </a:r>
          </a:p>
        </p:txBody>
      </p:sp>
    </p:spTree>
    <p:extLst>
      <p:ext uri="{BB962C8B-B14F-4D97-AF65-F5344CB8AC3E}">
        <p14:creationId xmlns:p14="http://schemas.microsoft.com/office/powerpoint/2010/main" val="6933157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66E1C7-3F11-4DD2-80F6-ABDFCEF5D33C}"/>
              </a:ext>
            </a:extLst>
          </p:cNvPr>
          <p:cNvSpPr>
            <a:spLocks xmlns:a="http://schemas.openxmlformats.org/drawingml/2006/main" noGrp="1"/>
          </p:cNvSpPr>
          <p:nvPr/>
        </p:nvSpPr>
        <p:spPr>
          <a:xfrm xmlns:a="http://schemas.openxmlformats.org/drawingml/2006/main">
            <a:off x="495300" y="457200"/>
            <a:ext cx="11201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3525" b="1">
                <a:solidFill>
                  <a:srgbClr val="171717"/>
                </a:solidFill>
              </a:defRPr>
            </a:pPr>
            <a:r>
              <a:rPr sz="3525" b="1">
                <a:solidFill>
                  <a:srgbClr val="171717"/>
                </a:solidFill>
              </a:rPr>
              <a:t>Learn when capacity is worth its cost</a:t>
            </a:r>
          </a:p>
        </p:txBody>
      </p:sp>
      <p:sp>
        <p:nvSpPr>
          <p:cNvPr id="2" name="">
            <a:extLst xmlns:a="http://schemas.openxmlformats.org/drawingml/2006/main">
              <a:ext uri="{FF2B5EF4-FFF2-40B4-BE49-F238E27FC236}">
                <a16:creationId xmlns:a16="http://schemas.microsoft.com/office/drawing/2014/main" id="{7DADC8B2-CF19-4D7B-8DA7-B4178895B7F6}"/>
              </a:ext>
            </a:extLst>
          </p:cNvPr>
          <p:cNvSpPr>
            <a:spLocks xmlns:a="http://schemas.openxmlformats.org/drawingml/2006/main" noGrp="1"/>
          </p:cNvSpPr>
          <p:nvPr/>
        </p:nvSpPr>
        <p:spPr>
          <a:xfrm xmlns:a="http://schemas.openxmlformats.org/drawingml/2006/main">
            <a:off x="495300" y="6334125"/>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REINFORCEMENT LEARNING  /  CIA–3 COMPONENT 1</a:t>
            </a:r>
          </a:p>
        </p:txBody>
      </p:sp>
      <p:sp>
        <p:nvSpPr>
          <p:cNvPr id="3" name="">
            <a:extLst xmlns:a="http://schemas.openxmlformats.org/drawingml/2006/main">
              <a:ext uri="{FF2B5EF4-FFF2-40B4-BE49-F238E27FC236}">
                <a16:creationId xmlns:a16="http://schemas.microsoft.com/office/drawing/2014/main" id="{D8211E81-E9BC-484D-AA18-1400B4C5FDBD}"/>
              </a:ext>
            </a:extLst>
          </p:cNvPr>
          <p:cNvSpPr>
            <a:spLocks xmlns:a="http://schemas.openxmlformats.org/drawingml/2006/main" noGrp="1"/>
          </p:cNvSpPr>
          <p:nvPr/>
        </p:nvSpPr>
        <p:spPr>
          <a:xfrm xmlns:a="http://schemas.openxmlformats.org/drawingml/2006/main">
            <a:off x="11144250" y="6334125"/>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defRPr>
            </a:pPr>
            <a:r>
              <a:rPr sz="1575" b="0">
                <a:solidFill>
                  <a:srgbClr val="666666"/>
                </a:solidFill>
              </a:rPr>
              <a:t>16</a:t>
            </a:r>
          </a:p>
        </p:txBody>
      </p:sp>
      <p:sp>
        <p:nvSpPr>
          <p:cNvPr id="4" name="">
            <a:extLst xmlns:a="http://schemas.openxmlformats.org/drawingml/2006/main">
              <a:ext uri="{FF2B5EF4-FFF2-40B4-BE49-F238E27FC236}">
                <a16:creationId xmlns:a16="http://schemas.microsoft.com/office/drawing/2014/main" id="{A589CD28-13AD-4793-A921-9D2ACAC9B7E7}"/>
              </a:ext>
            </a:extLst>
          </p:cNvPr>
          <p:cNvSpPr>
            <a:spLocks xmlns:a="http://schemas.openxmlformats.org/drawingml/2006/main" noGrp="1"/>
          </p:cNvSpPr>
          <p:nvPr/>
        </p:nvSpPr>
        <p:spPr>
          <a:xfrm xmlns:a="http://schemas.openxmlformats.org/drawingml/2006/main">
            <a:off x="495300" y="1857375"/>
            <a:ext cx="11201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700" b="1">
                <a:solidFill>
                  <a:srgbClr val="171717"/>
                </a:solidFill>
              </a:defRPr>
            </a:pPr>
            <a:r>
              <a:rPr sz="2700" b="1">
                <a:solidFill>
                  <a:srgbClr val="171717"/>
                </a:solidFill>
              </a:rPr>
              <a:t>A compact simulation makes the trade-off measurable.</a:t>
            </a:r>
          </a:p>
          <a:p xmlns:a="http://schemas.openxmlformats.org/drawingml/2006/main">
            <a:pPr>
              <a:defRPr sz="2700" b="1">
                <a:solidFill>
                  <a:srgbClr val="171717"/>
                </a:solidFill>
              </a:defRPr>
            </a:pPr>
            <a:r>
              <a:rPr sz="2700" b="1">
                <a:solidFill>
                  <a:srgbClr val="171717"/>
                </a:solidFill>
              </a:rPr>
              <a:t>Q-learning supplies the first policy; experiments test its value.</a:t>
            </a:r>
          </a:p>
        </p:txBody>
      </p:sp>
      <p:sp>
        <p:nvSpPr>
          <p:cNvPr id="5" name="">
            <a:extLst xmlns:a="http://schemas.openxmlformats.org/drawingml/2006/main">
              <a:ext uri="{FF2B5EF4-FFF2-40B4-BE49-F238E27FC236}">
                <a16:creationId xmlns:a16="http://schemas.microsoft.com/office/drawing/2014/main" id="{9FC1CBCB-334F-4BB2-B747-572E4D21C7A6}"/>
              </a:ext>
            </a:extLst>
          </p:cNvPr>
          <p:cNvSpPr>
            <a:spLocks xmlns:a="http://schemas.openxmlformats.org/drawingml/2006/main" noGrp="1"/>
          </p:cNvSpPr>
          <p:nvPr/>
        </p:nvSpPr>
        <p:spPr>
          <a:xfrm xmlns:a="http://schemas.openxmlformats.org/drawingml/2006/main">
            <a:off x="495300" y="3714750"/>
            <a:ext cx="11201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2400" b="1">
                <a:solidFill>
                  <a:srgbClr val="171717"/>
                </a:solidFill>
              </a:defRPr>
            </a:pPr>
            <a:r>
              <a:rPr sz="2400" b="1">
                <a:solidFill>
                  <a:srgbClr val="171717"/>
                </a:solidFill>
              </a:rPr>
              <a:t>References</a:t>
            </a:r>
          </a:p>
        </p:txBody>
      </p:sp>
      <p:sp>
        <p:nvSpPr>
          <p:cNvPr id="6" name="">
            <a:extLst xmlns:a="http://schemas.openxmlformats.org/drawingml/2006/main">
              <a:ext uri="{FF2B5EF4-FFF2-40B4-BE49-F238E27FC236}">
                <a16:creationId xmlns:a16="http://schemas.microsoft.com/office/drawing/2014/main" id="{65974E33-F6F0-4766-B5D6-759B78CC64F1}"/>
              </a:ext>
            </a:extLst>
          </p:cNvPr>
          <p:cNvSpPr>
            <a:spLocks xmlns:a="http://schemas.openxmlformats.org/drawingml/2006/main" noGrp="1"/>
          </p:cNvSpPr>
          <p:nvPr/>
        </p:nvSpPr>
        <p:spPr>
          <a:xfrm xmlns:a="http://schemas.openxmlformats.org/drawingml/2006/main">
            <a:off x="495300" y="4286250"/>
            <a:ext cx="112014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defRPr sz="1725" b="0">
                <a:solidFill>
                  <a:srgbClr val="171717"/>
                </a:solidFill>
              </a:defRPr>
            </a:pPr>
            <a:r>
              <a:rPr sz="1725" b="0">
                <a:solidFill>
                  <a:srgbClr val="171717"/>
                </a:solidFill>
              </a:rPr>
              <a:t>[1] CIA–3 Assessment: Complete Deliverables, pp. 1–3 (provided brief).</a:t>
            </a:r>
          </a:p>
          <a:p xmlns:a="http://schemas.openxmlformats.org/drawingml/2006/main">
            <a:pPr>
              <a:defRPr sz="1725" b="0">
                <a:solidFill>
                  <a:srgbClr val="171717"/>
                </a:solidFill>
              </a:defRPr>
            </a:pPr>
            <a:r>
              <a:rPr sz="1725" b="0">
                <a:solidFill>
                  <a:srgbClr val="171717"/>
                </a:solidFill>
              </a:rPr>
              <a:t>[2] Sutton &amp; Barto, Reinforcement Learning: An Introduction, 2nd ed., 2018.</a:t>
            </a:r>
          </a:p>
          <a:p xmlns:a="http://schemas.openxmlformats.org/drawingml/2006/main">
            <a:pPr>
              <a:defRPr sz="1725" b="0">
                <a:solidFill>
                  <a:srgbClr val="171717"/>
                </a:solidFill>
              </a:defRPr>
            </a:pPr>
            <a:r>
              <a:rPr sz="1725" b="0">
                <a:solidFill>
                  <a:srgbClr val="171717"/>
                </a:solidFill>
              </a:rPr>
              <a:t>      incompleteideas.net/book/the-book-2nd.html</a:t>
            </a:r>
          </a:p>
          <a:p xmlns:a="http://schemas.openxmlformats.org/drawingml/2006/main">
            <a:pPr>
              <a:defRPr sz="1725" b="0">
                <a:solidFill>
                  <a:srgbClr val="171717"/>
                </a:solidFill>
              </a:defRPr>
            </a:pPr>
            <a:r>
              <a:rPr sz="1725" b="0">
                <a:solidFill>
                  <a:srgbClr val="171717"/>
                </a:solidFill>
              </a:rPr>
              <a:t>[3] Kubernetes Documentation, “Horizontal Pod Autoscaling.”</a:t>
            </a:r>
          </a:p>
          <a:p xmlns:a="http://schemas.openxmlformats.org/drawingml/2006/main">
            <a:pPr>
              <a:defRPr sz="1725" b="0">
                <a:solidFill>
                  <a:srgbClr val="171717"/>
                </a:solidFill>
              </a:defRPr>
            </a:pPr>
            <a:r>
              <a:rPr sz="1725" b="0">
                <a:solidFill>
                  <a:srgbClr val="171717"/>
                </a:solidFill>
              </a:rPr>
              <a:t>      kubernetes.io/docs/concepts/workloads/autoscaling/horizontal-pod-autoscale/</a:t>
            </a:r>
          </a:p>
        </p:txBody>
      </p:sp>
    </p:spTree>
    <p:extLst>
      <p:ext uri="{BB962C8B-B14F-4D97-AF65-F5344CB8AC3E}">
        <p14:creationId xmlns:p14="http://schemas.microsoft.com/office/powerpoint/2010/main" val="18460880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2026-09-03T05:56:46.9270000Z</dcterms:created>
  <dcterms:modified xsi:type="dcterms:W3CDTF">2026-09-03T05:56:46.9270000Z</dcterms:modified>
</coreProperties>
</file>